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17"/>
  </p:notesMasterIdLst>
  <p:handoutMasterIdLst>
    <p:handoutMasterId r:id="rId18"/>
  </p:handoutMasterIdLst>
  <p:sldIdLst>
    <p:sldId id="261" r:id="rId5"/>
    <p:sldId id="273" r:id="rId6"/>
    <p:sldId id="315" r:id="rId7"/>
    <p:sldId id="280" r:id="rId8"/>
    <p:sldId id="286" r:id="rId9"/>
    <p:sldId id="316" r:id="rId10"/>
    <p:sldId id="317" r:id="rId11"/>
    <p:sldId id="318" r:id="rId12"/>
    <p:sldId id="319" r:id="rId13"/>
    <p:sldId id="320" r:id="rId14"/>
    <p:sldId id="321" r:id="rId15"/>
    <p:sldId id="31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50C17ED-8E22-4DA2-BAC1-BFF0A076631F}">
          <p14:sldIdLst>
            <p14:sldId id="261"/>
            <p14:sldId id="273"/>
            <p14:sldId id="315"/>
            <p14:sldId id="280"/>
            <p14:sldId id="286"/>
            <p14:sldId id="316"/>
            <p14:sldId id="317"/>
            <p14:sldId id="318"/>
            <p14:sldId id="319"/>
            <p14:sldId id="320"/>
            <p14:sldId id="321"/>
          </p14:sldIdLst>
        </p14:section>
        <p14:section name="Untitled Section" id="{7B6DE279-34D2-433A-AFF7-8983FA255E16}">
          <p14:sldIdLst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87175F"/>
    <a:srgbClr val="EEC621"/>
    <a:srgbClr val="E58C09"/>
    <a:srgbClr val="43467B"/>
    <a:srgbClr val="AEA422"/>
    <a:srgbClr val="F69E1D"/>
    <a:srgbClr val="E19E6B"/>
    <a:srgbClr val="75503A"/>
    <a:srgbClr val="DDB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4" autoAdjust="0"/>
  </p:normalViewPr>
  <p:slideViewPr>
    <p:cSldViewPr>
      <p:cViewPr varScale="1">
        <p:scale>
          <a:sx n="111" d="100"/>
          <a:sy n="111" d="100"/>
        </p:scale>
        <p:origin x="594" y="96"/>
      </p:cViewPr>
      <p:guideLst/>
    </p:cSldViewPr>
  </p:slideViewPr>
  <p:outlineViewPr>
    <p:cViewPr>
      <p:scale>
        <a:sx n="33" d="100"/>
        <a:sy n="33" d="100"/>
      </p:scale>
      <p:origin x="0" y="-20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F33-483B-8984-67AD3F15958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5F33-483B-8984-67AD3F15958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F33-483B-8984-67AD3F15958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F33-483B-8984-67AD3F15958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33-483B-8984-67AD3F1595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3E32-5603-440A-ACDD-7442C88C5FED}" type="datetimeFigureOut">
              <a:rPr lang="en-US" smtClean="0">
                <a:latin typeface="Tw Cen MT" panose="020B0602020104020603" pitchFamily="34" charset="0"/>
              </a:rPr>
              <a:t>9/23/2026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B1589-0F8A-400D-AEF4-57688446A2F5}" type="slidenum">
              <a:rPr lang="en-US" smtClean="0">
                <a:latin typeface="Tw Cen MT" panose="020B0602020104020603" pitchFamily="34" charset="0"/>
              </a:rPr>
              <a:t>‹#›</a:t>
            </a:fld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AF4A386A-BFE4-4655-9801-CBB04655F27A}" type="datetimeFigureOut">
              <a:rPr lang="en-US" noProof="0" smtClean="0"/>
              <a:pPr/>
              <a:t>9/23/2026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DAE5FABD-26C8-4F74-B1E3-45BC91BC9D7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4910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D06FF-4A37-6C86-34E5-2376F5D21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209ED-E653-5994-DD1C-CC0DDF199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47BB5-E006-BEAB-E9D4-C7AD58DFB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C6EA9-FB53-E994-5B77-20556E21E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35367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24746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5294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3BBB6-3799-A4A2-C849-0295B9A04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C6CBB7-945D-2792-EEFA-D85BD08A2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99F16C-6049-DA47-9C03-17B918C76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5EF63-908B-A6B4-8B6C-8C914BB7CC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8638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20520-D65E-6AFB-FCD4-0A153F361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30A09-A0D2-0814-59CE-8364800A9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7DB74-5767-A39C-6948-CCD1D04BB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2DCA8-3522-B2DF-DF39-80F65BC5E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39352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62084-C0FE-E465-C014-6F47FAB13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DC612-2C46-A07E-59D2-F2A010A47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95E5B-8360-1D9C-A9F5-5103AD404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5C88E-6878-9C55-686E-FE96645DC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23823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3297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ENGINEERING DESIGN 2026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GENERAL FEEDBACK</a:t>
            </a:r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CONTROL BOARD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Prototype successfully completed</a:t>
            </a:r>
          </a:p>
          <a:p>
            <a:r>
              <a:rPr lang="en-US" dirty="0"/>
              <a:t>SPWM implemented, 3 or 6 IO, 10 kHz switching </a:t>
            </a:r>
            <a:r>
              <a:rPr lang="en-US" dirty="0" err="1"/>
              <a:t>freq</a:t>
            </a:r>
            <a:endParaRPr lang="en-US" dirty="0"/>
          </a:p>
          <a:p>
            <a:r>
              <a:rPr lang="en-US" dirty="0"/>
              <a:t>ADC ADS1220 on SPI</a:t>
            </a:r>
          </a:p>
          <a:p>
            <a:r>
              <a:rPr lang="en-US" dirty="0"/>
              <a:t>Port Expander 2x 8bit ports (15 usable)</a:t>
            </a:r>
          </a:p>
          <a:p>
            <a:r>
              <a:rPr lang="en-US" dirty="0" err="1"/>
              <a:t>uSD</a:t>
            </a:r>
            <a:r>
              <a:rPr lang="en-US" dirty="0"/>
              <a:t> Card and RTCC support</a:t>
            </a:r>
          </a:p>
          <a:p>
            <a:r>
              <a:rPr lang="en-US" dirty="0"/>
              <a:t>RGB Status LED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C965B6-7E38-4D37-8DC4-198F7E2181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At a glance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4A039-11AB-474F-8746-9A34D1C39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6E5B80C5-6B42-4867-88CC-660291DD3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D2A5B748-37FD-448D-997E-B1D33265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58DB66-1473-1A19-FA4D-1FE6E2B8B4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44" t="5814" r="42701" b="6639"/>
          <a:stretch>
            <a:fillRect/>
          </a:stretch>
        </p:blipFill>
        <p:spPr>
          <a:xfrm>
            <a:off x="8329613" y="530352"/>
            <a:ext cx="3558242" cy="599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2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4D0C6-B7C1-AF5D-A06F-5FD0789C4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B4CA7EB-8A65-05F4-B3EB-31C705862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CONTROL BOARD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2DF03A1-9A5C-FF78-FA4C-F5024637BDB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Chinese Mid-Autumn Holiday period leads to factory shutdowns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Completion estimate is 4 October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81E042-A601-DA8A-71D7-DC97223AFB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In Production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9B4F34-3559-21BF-5E23-315B049A9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8D92AF1C-7DB1-57DC-073C-1ABD48E6D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E4E1EB19-9C78-7620-D1CF-56BE2FC91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76A1CD-8BDC-D8AB-81B0-E1DA2E37BB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44" t="5814" r="42701" b="6639"/>
          <a:stretch>
            <a:fillRect/>
          </a:stretch>
        </p:blipFill>
        <p:spPr>
          <a:xfrm>
            <a:off x="8329613" y="530352"/>
            <a:ext cx="3558242" cy="59986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7CCDAD-1082-4346-4F87-A79DAC7BF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9155" y="2996952"/>
            <a:ext cx="4792869" cy="10419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6AC663-890D-3750-60BA-E5D3EBFECB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5953" y="4404566"/>
            <a:ext cx="4792869" cy="175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646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F890B92-D44D-461B-A5E6-D4F348791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12976"/>
            <a:ext cx="12191999" cy="3278423"/>
          </a:xfr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DELIVERY ESTIMATE</a:t>
            </a:r>
            <a:br>
              <a:rPr lang="en-US" dirty="0"/>
            </a:br>
            <a:r>
              <a:rPr lang="en-US" dirty="0"/>
              <a:t>9 OCTOBER 2026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9455ACD-CCC6-4BEC-AA79-DC1C69D08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dirty="0"/>
              <a:t>Boards arrive partially assembled.            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Connectors must be soldered by individual groups.</a:t>
            </a:r>
          </a:p>
        </p:txBody>
      </p:sp>
      <p:pic>
        <p:nvPicPr>
          <p:cNvPr id="39" name="Picture Placeholder 38">
            <a:extLst>
              <a:ext uri="{FF2B5EF4-FFF2-40B4-BE49-F238E27FC236}">
                <a16:creationId xmlns:a16="http://schemas.microsoft.com/office/drawing/2014/main" id="{D15B262E-3234-4E0C-A890-B69314333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53" r="853"/>
          <a:stretch>
            <a:fillRect/>
          </a:stretch>
        </p:blipFill>
        <p:spPr/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6C6147-EB04-429F-9D41-52F18DE23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2" name="Text Placeholder 119">
            <a:extLst>
              <a:ext uri="{FF2B5EF4-FFF2-40B4-BE49-F238E27FC236}">
                <a16:creationId xmlns:a16="http://schemas.microsoft.com/office/drawing/2014/main" id="{D9043C6D-0761-489D-8401-7F976D80B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D5E95B5-674E-4A3A-A7C5-83CFC4114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04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02B9606-F9BC-40CD-9467-6348ACE41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682397A-D234-4487-8E63-23B79C76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7199992-58FE-4335-A811-6AFA96B5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protection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F8FCB52-DD55-48F6-9F4A-D2A0F6586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052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95B7B-6669-99D2-DD1E-471D5C6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4BD06A4-1619-553E-896E-24F9F9B2F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BOTHER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A9819B5-1C57-17A4-1431-633184B29CB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Products necessitates interfacing low-voltage and high voltage</a:t>
            </a:r>
          </a:p>
          <a:p>
            <a:pPr lvl="1"/>
            <a:r>
              <a:rPr lang="en-US" dirty="0"/>
              <a:t>Inverter control</a:t>
            </a:r>
          </a:p>
          <a:p>
            <a:pPr lvl="1"/>
            <a:r>
              <a:rPr lang="en-US" dirty="0"/>
              <a:t>General switching applications</a:t>
            </a:r>
          </a:p>
          <a:p>
            <a:pPr lvl="1"/>
            <a:r>
              <a:rPr lang="en-US" dirty="0"/>
              <a:t>Field-bus transients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E1BF39-B2E8-47FD-0C46-6CAEB9DCFB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Dealing with transients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D713C8-9A15-AC24-B1C5-081B9184D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9C28B7D4-F43F-E78F-94D2-36734216D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2647C896-E6C2-66B7-2D32-3C3AE86E6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608912-5DBA-C745-DD45-C32343802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448" y="4293096"/>
            <a:ext cx="1733792" cy="14384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0FE93F-D5F1-842B-03FE-1F271467BA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840" y="3958179"/>
            <a:ext cx="2130950" cy="18088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34F219-0788-B9B4-2ADC-8BF339AFB7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2264" y="4070912"/>
            <a:ext cx="2245690" cy="15834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5F09F6-E07C-2041-9CFE-E7730778EFA6}"/>
              </a:ext>
            </a:extLst>
          </p:cNvPr>
          <p:cNvSpPr txBox="1"/>
          <p:nvPr/>
        </p:nvSpPr>
        <p:spPr>
          <a:xfrm>
            <a:off x="548640" y="5706445"/>
            <a:ext cx="29469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Fast</a:t>
            </a:r>
          </a:p>
          <a:p>
            <a:pPr algn="ctr"/>
            <a:r>
              <a:rPr lang="en-GB" dirty="0"/>
              <a:t>Potential for galvanic isolation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CAAF29-4C18-2454-11BD-BBDB804D19D7}"/>
              </a:ext>
            </a:extLst>
          </p:cNvPr>
          <p:cNvSpPr txBox="1"/>
          <p:nvPr/>
        </p:nvSpPr>
        <p:spPr>
          <a:xfrm>
            <a:off x="8580970" y="5919459"/>
            <a:ext cx="2544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Very Fast (8us)</a:t>
            </a:r>
          </a:p>
          <a:p>
            <a:pPr algn="ctr"/>
            <a:r>
              <a:rPr lang="en-GB" dirty="0"/>
              <a:t>Alternative path provision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AC7E20-7F36-8587-C0C3-0FF3F0F00EBB}"/>
              </a:ext>
            </a:extLst>
          </p:cNvPr>
          <p:cNvSpPr txBox="1"/>
          <p:nvPr/>
        </p:nvSpPr>
        <p:spPr>
          <a:xfrm>
            <a:off x="3916710" y="5919460"/>
            <a:ext cx="3914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Slow</a:t>
            </a:r>
          </a:p>
          <a:p>
            <a:pPr algn="ctr"/>
            <a:r>
              <a:rPr lang="en-GB" dirty="0"/>
              <a:t>Galvanic isolation, direct mains switching</a:t>
            </a:r>
          </a:p>
        </p:txBody>
      </p:sp>
    </p:spTree>
    <p:extLst>
      <p:ext uri="{BB962C8B-B14F-4D97-AF65-F5344CB8AC3E}">
        <p14:creationId xmlns:p14="http://schemas.microsoft.com/office/powerpoint/2010/main" val="1911675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D4326-3FA1-85E2-EFF6-031DF18B8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3D9663A-3542-4AE5-42D6-D3631E0C2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OPTICAL ISOLATION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AADD198-1A48-FA5F-0F83-283ECE1F597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V2 via R1 supplies LED in U1</a:t>
            </a:r>
          </a:p>
          <a:p>
            <a:r>
              <a:rPr lang="en-US" dirty="0"/>
              <a:t>Transistor in U1 low side switch</a:t>
            </a:r>
          </a:p>
          <a:p>
            <a:r>
              <a:rPr lang="en-US" dirty="0"/>
              <a:t>L1 fed via V1</a:t>
            </a:r>
          </a:p>
          <a:p>
            <a:pPr lvl="1"/>
            <a:r>
              <a:rPr lang="en-US" dirty="0"/>
              <a:t>No current limiting</a:t>
            </a:r>
          </a:p>
          <a:p>
            <a:r>
              <a:rPr lang="en-US" dirty="0"/>
              <a:t>Switching is limited to </a:t>
            </a:r>
            <a:r>
              <a:rPr lang="en-US" dirty="0" err="1"/>
              <a:t>Vce</a:t>
            </a:r>
            <a:r>
              <a:rPr lang="en-US" dirty="0"/>
              <a:t> max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D4587C-965E-F14E-C33A-4522B3AC14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Low Voltage Differentials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F14724-CE06-8FEE-B68C-84CFBD786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380F9807-7CA8-E115-230A-BD8ADEF65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069E6406-0F08-7CDD-ACDF-02B63376F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264D71-7DF9-E58F-0D7C-16D256D65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036" y="2733128"/>
            <a:ext cx="6255296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200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8831A-E779-12DC-4823-4E94F1D94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SWITCHING 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96B4B-D480-5BF7-E337-B692DB9A36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Ground is not perfect 0R</a:t>
            </a:r>
          </a:p>
          <a:p>
            <a:r>
              <a:rPr lang="en-GB" dirty="0"/>
              <a:t>Distributed L and C induces voltage transients</a:t>
            </a:r>
          </a:p>
          <a:p>
            <a:r>
              <a:rPr lang="en-GB" dirty="0"/>
              <a:t>3V MCU</a:t>
            </a:r>
          </a:p>
          <a:p>
            <a:pPr lvl="1"/>
            <a:r>
              <a:rPr lang="en-GB" dirty="0"/>
              <a:t>High 3V, Low 0V</a:t>
            </a:r>
          </a:p>
          <a:p>
            <a:pPr lvl="1"/>
            <a:r>
              <a:rPr lang="en-GB" dirty="0"/>
              <a:t>0.8V bounce &gt; High 2.2V, Low -0.8V</a:t>
            </a:r>
          </a:p>
          <a:p>
            <a:r>
              <a:rPr lang="en-GB" dirty="0"/>
              <a:t>2.2V nuisance sporadic behaviour</a:t>
            </a:r>
          </a:p>
          <a:p>
            <a:r>
              <a:rPr lang="en-GB" dirty="0"/>
              <a:t>-0,8V input &gt; Blown MCU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8AEEFB2-681C-A2D1-31A8-39CC28B346C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06A1EE-0C76-B415-B0C5-354349BA4F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What happens to voltages…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E4603-1D63-876F-AC8F-06B1DF8AA7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8</a:t>
            </a:fld>
            <a:endParaRPr lang="en-US" noProof="0" dirty="0"/>
          </a:p>
        </p:txBody>
      </p:sp>
      <p:pic>
        <p:nvPicPr>
          <p:cNvPr id="7" name="Picture 6" descr="Reducing Ground Bounce in PCB Assembly | Sierra Circuits">
            <a:extLst>
              <a:ext uri="{FF2B5EF4-FFF2-40B4-BE49-F238E27FC236}">
                <a16:creationId xmlns:a16="http://schemas.microsoft.com/office/drawing/2014/main" id="{8B9D6FA0-1902-B717-C6DF-C3D0DA6A8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218" y="2391529"/>
            <a:ext cx="5226613" cy="405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134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694F9-E0ED-0FD6-69F7-DB31507C8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9B60530-DE73-5550-3274-6863998B0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OPTICAL ISOLATION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9476908-183D-6F30-3E36-86B88FD64C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MCU Loop (V2) completely isolated</a:t>
            </a:r>
          </a:p>
          <a:p>
            <a:r>
              <a:rPr lang="en-US" dirty="0"/>
              <a:t>Worst case V1 loop spike destroys U1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CDA7FC-6E08-62FD-E88D-DDC044C8CC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Correct usage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F381F0-71B4-95A0-9E2D-939B01B31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153996E5-15BB-8041-51B6-11FC514D0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1EF7A54A-3831-DA6D-8D33-DC41BCF0C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577900-24FB-F8BB-8BF2-AF38002D9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864" y="2733128"/>
            <a:ext cx="5965468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647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BECA3-9F6B-370F-A766-D450CED3A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typical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44A9F-93D0-FEB1-A46E-1BAFFD2D181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Shared GND offers no transient protection to MCU</a:t>
            </a:r>
          </a:p>
          <a:p>
            <a:r>
              <a:rPr lang="en-GB" dirty="0"/>
              <a:t>U1 used as a voltage-level-translator</a:t>
            </a:r>
          </a:p>
          <a:p>
            <a:r>
              <a:rPr lang="en-GB" dirty="0"/>
              <a:t>Very easy trap!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C5BCBF5-B3E0-4C9F-5157-A39C3412BEA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F250CF-8445-8375-34F7-02D824C3F71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Poor isolation performance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EFD48-5BDC-1F00-6F78-DBFA9D597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B22EFA-A301-410F-7279-0028E5EAB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950" y="3225168"/>
            <a:ext cx="6012671" cy="311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F9395-37DA-3B6B-193A-15538FE34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typical configuration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477BAE-E231-4C9E-8FA9-BB6A653C3E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9DE92F-A271-8A51-849E-5B0D91FF9B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Good Isolation Performance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8F7FE-76FC-8DF2-6D59-7916B1949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11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9BF463-F973-92C1-2823-D99310B93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48" y="5257301"/>
            <a:ext cx="1599564" cy="12654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ED9E7F-ADA8-EDF5-F179-3054A75AD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632" y="2917686"/>
            <a:ext cx="1439969" cy="20857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1D63DC-CEC1-4D4D-C22D-EF4984F7C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1677" y="2857419"/>
            <a:ext cx="1810728" cy="16424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A1EE16-42E8-15CE-1EDC-49F23396A8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8633" y="5145140"/>
            <a:ext cx="1491011" cy="11947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50D9C03-8239-302A-9C34-1CE0B86532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9676" y="3169805"/>
            <a:ext cx="1815092" cy="1331068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A50A2DA-E2DD-1023-65F4-9C4952125CDA}"/>
              </a:ext>
            </a:extLst>
          </p:cNvPr>
          <p:cNvCxnSpPr>
            <a:cxnSpLocks/>
          </p:cNvCxnSpPr>
          <p:nvPr/>
        </p:nvCxnSpPr>
        <p:spPr>
          <a:xfrm flipV="1">
            <a:off x="8184232" y="4293096"/>
            <a:ext cx="0" cy="1018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6E3F9DF-7CC9-9D2D-7ADA-75547061A0B7}"/>
              </a:ext>
            </a:extLst>
          </p:cNvPr>
          <p:cNvCxnSpPr>
            <a:cxnSpLocks/>
          </p:cNvCxnSpPr>
          <p:nvPr/>
        </p:nvCxnSpPr>
        <p:spPr>
          <a:xfrm>
            <a:off x="4223601" y="3157229"/>
            <a:ext cx="3013321" cy="12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CCAF9B-8A9E-B9D6-3C1C-9245FF381EFC}"/>
              </a:ext>
            </a:extLst>
          </p:cNvPr>
          <p:cNvCxnSpPr>
            <a:cxnSpLocks/>
          </p:cNvCxnSpPr>
          <p:nvPr/>
        </p:nvCxnSpPr>
        <p:spPr>
          <a:xfrm>
            <a:off x="8542148" y="3384188"/>
            <a:ext cx="820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F9F6BD11-B9A7-FF6A-B024-28D4A6A35A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6922" y="5257301"/>
            <a:ext cx="1379358" cy="1166653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18FB2FD-0251-5782-A3B1-D549AABEE86B}"/>
              </a:ext>
            </a:extLst>
          </p:cNvPr>
          <p:cNvCxnSpPr>
            <a:endCxn id="14" idx="1"/>
          </p:cNvCxnSpPr>
          <p:nvPr/>
        </p:nvCxnSpPr>
        <p:spPr>
          <a:xfrm>
            <a:off x="4583832" y="5742490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DCDFAC-746E-7495-C718-A6BBA5646322}"/>
              </a:ext>
            </a:extLst>
          </p:cNvPr>
          <p:cNvCxnSpPr/>
          <p:nvPr/>
        </p:nvCxnSpPr>
        <p:spPr>
          <a:xfrm>
            <a:off x="6744072" y="5661248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E2E2E85B-DAF6-CFF0-551F-65DBC010D384}"/>
              </a:ext>
            </a:extLst>
          </p:cNvPr>
          <p:cNvSpPr/>
          <p:nvPr/>
        </p:nvSpPr>
        <p:spPr>
          <a:xfrm rot="10800000">
            <a:off x="4061820" y="4133791"/>
            <a:ext cx="288032" cy="21602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D20FE772-0D7F-D312-A2B1-8F0CADAA0A92}"/>
              </a:ext>
            </a:extLst>
          </p:cNvPr>
          <p:cNvSpPr/>
          <p:nvPr/>
        </p:nvSpPr>
        <p:spPr>
          <a:xfrm rot="10800000">
            <a:off x="4123474" y="6380499"/>
            <a:ext cx="288032" cy="216024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52DFB04-A8C3-7B2E-120E-2C64360F07FE}"/>
              </a:ext>
            </a:extLst>
          </p:cNvPr>
          <p:cNvCxnSpPr>
            <a:stCxn id="38" idx="3"/>
          </p:cNvCxnSpPr>
          <p:nvPr/>
        </p:nvCxnSpPr>
        <p:spPr>
          <a:xfrm flipV="1">
            <a:off x="4267490" y="6024738"/>
            <a:ext cx="0" cy="355761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B8603FBB-74FE-21AA-7D8A-9E0F499D1D1D}"/>
              </a:ext>
            </a:extLst>
          </p:cNvPr>
          <p:cNvSpPr/>
          <p:nvPr/>
        </p:nvSpPr>
        <p:spPr>
          <a:xfrm rot="10800000">
            <a:off x="5951984" y="6423954"/>
            <a:ext cx="288032" cy="216024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48929F8-BE00-BC4B-21A9-899636A94EBB}"/>
              </a:ext>
            </a:extLst>
          </p:cNvPr>
          <p:cNvCxnSpPr>
            <a:stCxn id="41" idx="3"/>
          </p:cNvCxnSpPr>
          <p:nvPr/>
        </p:nvCxnSpPr>
        <p:spPr>
          <a:xfrm flipV="1">
            <a:off x="6096000" y="6068193"/>
            <a:ext cx="0" cy="355761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E9BC8038-77F8-0E6A-4E7C-8D31173E5819}"/>
              </a:ext>
            </a:extLst>
          </p:cNvPr>
          <p:cNvSpPr/>
          <p:nvPr/>
        </p:nvSpPr>
        <p:spPr>
          <a:xfrm rot="10800000">
            <a:off x="7227383" y="6272487"/>
            <a:ext cx="288032" cy="216024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86D48DF-88B0-BA04-9EC7-2C8D5CABFDDE}"/>
              </a:ext>
            </a:extLst>
          </p:cNvPr>
          <p:cNvCxnSpPr>
            <a:stCxn id="43" idx="3"/>
          </p:cNvCxnSpPr>
          <p:nvPr/>
        </p:nvCxnSpPr>
        <p:spPr>
          <a:xfrm flipV="1">
            <a:off x="7371399" y="5916726"/>
            <a:ext cx="0" cy="355761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1876459-B0A2-AD71-D987-44F0EEDF1AAE}"/>
              </a:ext>
            </a:extLst>
          </p:cNvPr>
          <p:cNvCxnSpPr>
            <a:stCxn id="36" idx="3"/>
          </p:cNvCxnSpPr>
          <p:nvPr/>
        </p:nvCxnSpPr>
        <p:spPr>
          <a:xfrm flipV="1">
            <a:off x="4205836" y="3862020"/>
            <a:ext cx="0" cy="27177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F9E0D0AC-678B-A3D3-7B9A-E70690EB91EC}"/>
              </a:ext>
            </a:extLst>
          </p:cNvPr>
          <p:cNvSpPr/>
          <p:nvPr/>
        </p:nvSpPr>
        <p:spPr>
          <a:xfrm rot="10800000">
            <a:off x="8398132" y="4241803"/>
            <a:ext cx="288032" cy="21602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9DDE223-55EA-48B4-F48D-9B339A9B5EB8}"/>
              </a:ext>
            </a:extLst>
          </p:cNvPr>
          <p:cNvCxnSpPr>
            <a:stCxn id="47" idx="3"/>
          </p:cNvCxnSpPr>
          <p:nvPr/>
        </p:nvCxnSpPr>
        <p:spPr>
          <a:xfrm flipV="1">
            <a:off x="8542148" y="3970032"/>
            <a:ext cx="0" cy="27177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9203326-D11A-5989-08AA-B9F44416DD49}"/>
              </a:ext>
            </a:extLst>
          </p:cNvPr>
          <p:cNvCxnSpPr>
            <a:cxnSpLocks/>
          </p:cNvCxnSpPr>
          <p:nvPr/>
        </p:nvCxnSpPr>
        <p:spPr>
          <a:xfrm flipH="1" flipV="1">
            <a:off x="8616280" y="3645024"/>
            <a:ext cx="786822" cy="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66E7384B-FB1C-51F3-6627-4D6B67A6EA62}"/>
              </a:ext>
            </a:extLst>
          </p:cNvPr>
          <p:cNvSpPr/>
          <p:nvPr/>
        </p:nvSpPr>
        <p:spPr>
          <a:xfrm rot="10800000">
            <a:off x="8484892" y="6207930"/>
            <a:ext cx="288032" cy="21602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8299AC9-EF7B-3575-29E2-F3E030569B4B}"/>
              </a:ext>
            </a:extLst>
          </p:cNvPr>
          <p:cNvCxnSpPr>
            <a:stCxn id="52" idx="3"/>
          </p:cNvCxnSpPr>
          <p:nvPr/>
        </p:nvCxnSpPr>
        <p:spPr>
          <a:xfrm flipV="1">
            <a:off x="8628908" y="5936159"/>
            <a:ext cx="0" cy="27177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B234115-E667-6B16-EEEA-5427D7FF8630}"/>
              </a:ext>
            </a:extLst>
          </p:cNvPr>
          <p:cNvCxnSpPr>
            <a:cxnSpLocks/>
          </p:cNvCxnSpPr>
          <p:nvPr/>
        </p:nvCxnSpPr>
        <p:spPr>
          <a:xfrm flipH="1" flipV="1">
            <a:off x="8471450" y="5877272"/>
            <a:ext cx="157458" cy="5888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EE4DD82-2090-22FD-35A5-37D999EF9841}"/>
              </a:ext>
            </a:extLst>
          </p:cNvPr>
          <p:cNvSpPr txBox="1"/>
          <p:nvPr/>
        </p:nvSpPr>
        <p:spPr>
          <a:xfrm>
            <a:off x="874449" y="5500624"/>
            <a:ext cx="22998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ONLY IF PSU</a:t>
            </a:r>
          </a:p>
          <a:p>
            <a:pPr algn="ctr"/>
            <a:r>
              <a:rPr lang="en-GB" dirty="0">
                <a:solidFill>
                  <a:srgbClr val="FF0000"/>
                </a:solidFill>
              </a:rPr>
              <a:t>PROVIDES</a:t>
            </a:r>
          </a:p>
          <a:p>
            <a:pPr algn="ctr"/>
            <a:r>
              <a:rPr lang="en-GB" dirty="0">
                <a:solidFill>
                  <a:srgbClr val="FF0000"/>
                </a:solidFill>
              </a:rPr>
              <a:t>GALVANIC ISOLATION</a:t>
            </a:r>
          </a:p>
        </p:txBody>
      </p:sp>
    </p:spTree>
    <p:extLst>
      <p:ext uri="{BB962C8B-B14F-4D97-AF65-F5344CB8AC3E}">
        <p14:creationId xmlns:p14="http://schemas.microsoft.com/office/powerpoint/2010/main" val="1641365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152902DB-60A1-4BBC-BD80-ABD51351C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4200" y="2590800"/>
            <a:ext cx="2209800" cy="22098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2667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287F1B-3E25-4481-B199-24E6AD18D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/>
          <a:lstStyle/>
          <a:p>
            <a:r>
              <a:rPr lang="en-US" dirty="0"/>
              <a:t>INCREMENT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1D4ADB-79CE-478E-8FBE-53E59DEC9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 Placeholder 119">
            <a:extLst>
              <a:ext uri="{FF2B5EF4-FFF2-40B4-BE49-F238E27FC236}">
                <a16:creationId xmlns:a16="http://schemas.microsoft.com/office/drawing/2014/main" id="{A8F5C4E3-6105-466B-A340-80D73DB22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7" name="Chart 6" descr="chart">
            <a:extLst>
              <a:ext uri="{FF2B5EF4-FFF2-40B4-BE49-F238E27FC236}">
                <a16:creationId xmlns:a16="http://schemas.microsoft.com/office/drawing/2014/main" id="{423F99F7-105E-4F90-AEE5-0ABC1BA8E8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8249267"/>
              </p:ext>
            </p:extLst>
          </p:nvPr>
        </p:nvGraphicFramePr>
        <p:xfrm>
          <a:off x="7543800" y="1960033"/>
          <a:ext cx="3530600" cy="3471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36D8B7C8-55F2-49D9-A8C1-5754C2A7D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33036" y="3068960"/>
            <a:ext cx="1152128" cy="1152128"/>
          </a:xfrm>
          <a:prstGeom prst="rect">
            <a:avLst/>
          </a:prstGeom>
        </p:spPr>
      </p:pic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5F307770-38D8-49CA-BFD0-64F78C89348C}"/>
              </a:ext>
            </a:extLst>
          </p:cNvPr>
          <p:cNvSpPr txBox="1">
            <a:spLocks/>
          </p:cNvSpPr>
          <p:nvPr/>
        </p:nvSpPr>
        <p:spPr>
          <a:xfrm>
            <a:off x="548641" y="2667000"/>
            <a:ext cx="3261359" cy="2514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Start to integrate aspects. </a:t>
            </a:r>
          </a:p>
          <a:p>
            <a:pPr marL="0" indent="0">
              <a:buNone/>
            </a:pPr>
            <a:r>
              <a:rPr lang="en-US" dirty="0"/>
              <a:t>Even a single controlled MOSFET/IGBT is significant progress.</a:t>
            </a:r>
          </a:p>
        </p:txBody>
      </p:sp>
    </p:spTree>
    <p:extLst>
      <p:ext uri="{BB962C8B-B14F-4D97-AF65-F5344CB8AC3E}">
        <p14:creationId xmlns:p14="http://schemas.microsoft.com/office/powerpoint/2010/main" val="25007347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FCA5F6-1A5A-4D78-BDE2-C793B61E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A86D9CC-0D9D-4BFE-B3F3-26F480BF8C8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classic block presentation</Template>
  <TotalTime>62</TotalTime>
  <Words>291</Words>
  <Application>Microsoft Office PowerPoint</Application>
  <PresentationFormat>Widescreen</PresentationFormat>
  <Paragraphs>86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Tw Cen MT</vt:lpstr>
      <vt:lpstr>Tw Cen MT Condensed</vt:lpstr>
      <vt:lpstr>Wingdings 3</vt:lpstr>
      <vt:lpstr>ModernClassicBlock-3</vt:lpstr>
      <vt:lpstr>ENGINEERING DESIGN 2026</vt:lpstr>
      <vt:lpstr>MAIN CONTROL BOARD</vt:lpstr>
      <vt:lpstr>MAIN CONTROL BOARD</vt:lpstr>
      <vt:lpstr>DELIVERY ESTIMATE 9 OCTOBER 2026</vt:lpstr>
      <vt:lpstr>Interface protection</vt:lpstr>
      <vt:lpstr>WHY BOTHER</vt:lpstr>
      <vt:lpstr>OPTICAL ISOLATION</vt:lpstr>
      <vt:lpstr>SWITCHING LOADS</vt:lpstr>
      <vt:lpstr>OPTICAL ISOLATION</vt:lpstr>
      <vt:lpstr>A typical implementation</vt:lpstr>
      <vt:lpstr>A typical configuration</vt:lpstr>
      <vt:lpstr>INCREMENT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 Marais</dc:creator>
  <cp:lastModifiedBy>Henri Marais</cp:lastModifiedBy>
  <cp:revision>1</cp:revision>
  <dcterms:created xsi:type="dcterms:W3CDTF">2026-09-23T10:24:22Z</dcterms:created>
  <dcterms:modified xsi:type="dcterms:W3CDTF">2026-09-23T11:27:02Z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