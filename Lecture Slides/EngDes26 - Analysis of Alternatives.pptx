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8" r:id="rId3"/>
    <p:sldId id="281" r:id="rId4"/>
    <p:sldId id="259" r:id="rId5"/>
    <p:sldId id="261" r:id="rId6"/>
    <p:sldId id="260" r:id="rId7"/>
    <p:sldId id="262" r:id="rId8"/>
    <p:sldId id="263" r:id="rId9"/>
    <p:sldId id="264" r:id="rId10"/>
    <p:sldId id="265" r:id="rId11"/>
    <p:sldId id="266" r:id="rId12"/>
    <p:sldId id="267" r:id="rId13"/>
    <p:sldId id="268" r:id="rId14"/>
    <p:sldId id="270" r:id="rId15"/>
    <p:sldId id="272" r:id="rId16"/>
    <p:sldId id="273" r:id="rId17"/>
    <p:sldId id="274" r:id="rId18"/>
    <p:sldId id="276" r:id="rId19"/>
    <p:sldId id="277" r:id="rId20"/>
    <p:sldId id="278" r:id="rId21"/>
    <p:sldId id="279" r:id="rId22"/>
    <p:sldId id="280" r:id="rId23"/>
    <p:sldId id="283" r:id="rId24"/>
    <p:sldId id="284" r:id="rId25"/>
    <p:sldId id="285" r:id="rId26"/>
    <p:sldId id="287" r:id="rId27"/>
    <p:sldId id="288"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22" autoAdjust="0"/>
    <p:restoredTop sz="69390" autoAdjust="0"/>
  </p:normalViewPr>
  <p:slideViewPr>
    <p:cSldViewPr snapToGrid="0">
      <p:cViewPr varScale="1">
        <p:scale>
          <a:sx n="77" d="100"/>
          <a:sy n="77" d="100"/>
        </p:scale>
        <p:origin x="2004" y="78"/>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2D46D5-BC27-43DE-9B83-2D22B759FD0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BE598CA-6869-49EA-880A-6254A3346310}">
      <dgm:prSet/>
      <dgm:spPr/>
      <dgm:t>
        <a:bodyPr/>
        <a:lstStyle/>
        <a:p>
          <a:r>
            <a:rPr lang="en-ZA"/>
            <a:t>System level</a:t>
          </a:r>
          <a:endParaRPr lang="en-US"/>
        </a:p>
      </dgm:t>
    </dgm:pt>
    <dgm:pt modelId="{F1188880-BD8E-4C45-9054-10A3C86D06A7}" type="parTrans" cxnId="{2E1987FB-F4F1-4FF4-AF19-D3EBB049D9E9}">
      <dgm:prSet/>
      <dgm:spPr/>
      <dgm:t>
        <a:bodyPr/>
        <a:lstStyle/>
        <a:p>
          <a:endParaRPr lang="en-US"/>
        </a:p>
      </dgm:t>
    </dgm:pt>
    <dgm:pt modelId="{233413D4-B675-4FAB-94BE-CA1F6E53B02A}" type="sibTrans" cxnId="{2E1987FB-F4F1-4FF4-AF19-D3EBB049D9E9}">
      <dgm:prSet/>
      <dgm:spPr/>
      <dgm:t>
        <a:bodyPr/>
        <a:lstStyle/>
        <a:p>
          <a:endParaRPr lang="en-US"/>
        </a:p>
      </dgm:t>
    </dgm:pt>
    <dgm:pt modelId="{46E6C900-5E8B-47CF-976A-2AA72FCE1881}">
      <dgm:prSet/>
      <dgm:spPr/>
      <dgm:t>
        <a:bodyPr/>
        <a:lstStyle/>
        <a:p>
          <a:r>
            <a:rPr lang="en-ZA"/>
            <a:t>Stand-alone, cloud, hybrid</a:t>
          </a:r>
          <a:endParaRPr lang="en-US"/>
        </a:p>
      </dgm:t>
    </dgm:pt>
    <dgm:pt modelId="{AAC30E9F-0ED6-475B-AE3B-6F9374106FE4}" type="parTrans" cxnId="{764CB73C-61BF-40C9-93C6-5EC03F84702C}">
      <dgm:prSet/>
      <dgm:spPr/>
      <dgm:t>
        <a:bodyPr/>
        <a:lstStyle/>
        <a:p>
          <a:endParaRPr lang="en-US"/>
        </a:p>
      </dgm:t>
    </dgm:pt>
    <dgm:pt modelId="{B19D5467-0954-4B61-9111-31B37CBC6BD5}" type="sibTrans" cxnId="{764CB73C-61BF-40C9-93C6-5EC03F84702C}">
      <dgm:prSet/>
      <dgm:spPr/>
      <dgm:t>
        <a:bodyPr/>
        <a:lstStyle/>
        <a:p>
          <a:endParaRPr lang="en-US"/>
        </a:p>
      </dgm:t>
    </dgm:pt>
    <dgm:pt modelId="{C3461F5D-29CD-46B0-B6DC-4FBAABAC5D3B}">
      <dgm:prSet/>
      <dgm:spPr/>
      <dgm:t>
        <a:bodyPr/>
        <a:lstStyle/>
        <a:p>
          <a:r>
            <a:rPr lang="en-ZA"/>
            <a:t>Native / framework based</a:t>
          </a:r>
          <a:endParaRPr lang="en-US"/>
        </a:p>
      </dgm:t>
    </dgm:pt>
    <dgm:pt modelId="{38198083-AB4A-4891-B281-F30948DB068B}" type="parTrans" cxnId="{8F1C2B1B-B56A-49E8-B2D8-795C28346D28}">
      <dgm:prSet/>
      <dgm:spPr/>
      <dgm:t>
        <a:bodyPr/>
        <a:lstStyle/>
        <a:p>
          <a:endParaRPr lang="en-US"/>
        </a:p>
      </dgm:t>
    </dgm:pt>
    <dgm:pt modelId="{7AF6CE98-4A9C-4CB3-92D2-3D4D400A02EE}" type="sibTrans" cxnId="{8F1C2B1B-B56A-49E8-B2D8-795C28346D28}">
      <dgm:prSet/>
      <dgm:spPr/>
      <dgm:t>
        <a:bodyPr/>
        <a:lstStyle/>
        <a:p>
          <a:endParaRPr lang="en-US"/>
        </a:p>
      </dgm:t>
    </dgm:pt>
    <dgm:pt modelId="{32EEB917-AEB9-407B-8706-9B114A6EDD4B}">
      <dgm:prSet/>
      <dgm:spPr/>
      <dgm:t>
        <a:bodyPr/>
        <a:lstStyle/>
        <a:p>
          <a:r>
            <a:rPr lang="en-ZA"/>
            <a:t>Scalability aspects particularly as it pertains to data</a:t>
          </a:r>
          <a:endParaRPr lang="en-US"/>
        </a:p>
      </dgm:t>
    </dgm:pt>
    <dgm:pt modelId="{5949C2D9-5DE9-4FCF-8403-1CEA9DDBD2B1}" type="parTrans" cxnId="{A525DB7E-3F14-4DAA-BB64-4B93EC0ABACB}">
      <dgm:prSet/>
      <dgm:spPr/>
      <dgm:t>
        <a:bodyPr/>
        <a:lstStyle/>
        <a:p>
          <a:endParaRPr lang="en-US"/>
        </a:p>
      </dgm:t>
    </dgm:pt>
    <dgm:pt modelId="{69EA840D-0032-40E4-B99D-6A168F527C0A}" type="sibTrans" cxnId="{A525DB7E-3F14-4DAA-BB64-4B93EC0ABACB}">
      <dgm:prSet/>
      <dgm:spPr/>
      <dgm:t>
        <a:bodyPr/>
        <a:lstStyle/>
        <a:p>
          <a:endParaRPr lang="en-US"/>
        </a:p>
      </dgm:t>
    </dgm:pt>
    <dgm:pt modelId="{CE85883A-A3CD-478B-A4D2-309DB7A297D6}">
      <dgm:prSet/>
      <dgm:spPr/>
      <dgm:t>
        <a:bodyPr/>
        <a:lstStyle/>
        <a:p>
          <a:r>
            <a:rPr lang="en-ZA"/>
            <a:t>Usability requirements</a:t>
          </a:r>
          <a:endParaRPr lang="en-US"/>
        </a:p>
      </dgm:t>
    </dgm:pt>
    <dgm:pt modelId="{AEB4D3B1-66D3-45F0-BA9A-6B77164BA660}" type="parTrans" cxnId="{67523846-ECBE-4BDD-B180-AA2E60B251BF}">
      <dgm:prSet/>
      <dgm:spPr/>
      <dgm:t>
        <a:bodyPr/>
        <a:lstStyle/>
        <a:p>
          <a:endParaRPr lang="en-US"/>
        </a:p>
      </dgm:t>
    </dgm:pt>
    <dgm:pt modelId="{184DE78A-C8C3-44C6-B466-BA198C5710D1}" type="sibTrans" cxnId="{67523846-ECBE-4BDD-B180-AA2E60B251BF}">
      <dgm:prSet/>
      <dgm:spPr/>
      <dgm:t>
        <a:bodyPr/>
        <a:lstStyle/>
        <a:p>
          <a:endParaRPr lang="en-US"/>
        </a:p>
      </dgm:t>
    </dgm:pt>
    <dgm:pt modelId="{DA7547AA-3BB1-4FAB-BE3C-990300BF5F44}">
      <dgm:prSet/>
      <dgm:spPr/>
      <dgm:t>
        <a:bodyPr/>
        <a:lstStyle/>
        <a:p>
          <a:r>
            <a:rPr lang="en-ZA"/>
            <a:t>Component level</a:t>
          </a:r>
          <a:endParaRPr lang="en-US"/>
        </a:p>
      </dgm:t>
    </dgm:pt>
    <dgm:pt modelId="{92B17053-051C-47B9-BF48-2884FE4DF4DA}" type="parTrans" cxnId="{7DA2CA09-158E-4CEB-9C06-D040509D443E}">
      <dgm:prSet/>
      <dgm:spPr/>
      <dgm:t>
        <a:bodyPr/>
        <a:lstStyle/>
        <a:p>
          <a:endParaRPr lang="en-US"/>
        </a:p>
      </dgm:t>
    </dgm:pt>
    <dgm:pt modelId="{A52C7BA4-3173-4FF6-B0D6-3AA6FD270CA0}" type="sibTrans" cxnId="{7DA2CA09-158E-4CEB-9C06-D040509D443E}">
      <dgm:prSet/>
      <dgm:spPr/>
      <dgm:t>
        <a:bodyPr/>
        <a:lstStyle/>
        <a:p>
          <a:endParaRPr lang="en-US"/>
        </a:p>
      </dgm:t>
    </dgm:pt>
    <dgm:pt modelId="{96D9958B-7492-4E68-8BB4-47D1C642CE9B}">
      <dgm:prSet/>
      <dgm:spPr/>
      <dgm:t>
        <a:bodyPr/>
        <a:lstStyle/>
        <a:p>
          <a:r>
            <a:rPr lang="en-ZA"/>
            <a:t>Specific frameworks / toolboxes / cloud providers</a:t>
          </a:r>
          <a:endParaRPr lang="en-US"/>
        </a:p>
      </dgm:t>
    </dgm:pt>
    <dgm:pt modelId="{5B25FFF6-408F-4508-AE65-DC0D36172B37}" type="parTrans" cxnId="{794DD457-3A64-4028-BDCA-D055C0AE1B8C}">
      <dgm:prSet/>
      <dgm:spPr/>
      <dgm:t>
        <a:bodyPr/>
        <a:lstStyle/>
        <a:p>
          <a:endParaRPr lang="en-US"/>
        </a:p>
      </dgm:t>
    </dgm:pt>
    <dgm:pt modelId="{0464831B-E7E8-4371-92FB-A247C96CE469}" type="sibTrans" cxnId="{794DD457-3A64-4028-BDCA-D055C0AE1B8C}">
      <dgm:prSet/>
      <dgm:spPr/>
      <dgm:t>
        <a:bodyPr/>
        <a:lstStyle/>
        <a:p>
          <a:endParaRPr lang="en-US"/>
        </a:p>
      </dgm:t>
    </dgm:pt>
    <dgm:pt modelId="{C1AC94BC-CD06-41FC-B596-DE3AFC4C4DB6}">
      <dgm:prSet/>
      <dgm:spPr/>
      <dgm:t>
        <a:bodyPr/>
        <a:lstStyle/>
        <a:p>
          <a:r>
            <a:rPr lang="en-ZA"/>
            <a:t>Possibly cloud architecture (if applicable)</a:t>
          </a:r>
          <a:endParaRPr lang="en-US"/>
        </a:p>
      </dgm:t>
    </dgm:pt>
    <dgm:pt modelId="{F85F2207-56E7-4379-9E90-93C9B4863DDD}" type="parTrans" cxnId="{D9FCE823-533E-49EE-B75E-8E21E6FB4D26}">
      <dgm:prSet/>
      <dgm:spPr/>
      <dgm:t>
        <a:bodyPr/>
        <a:lstStyle/>
        <a:p>
          <a:endParaRPr lang="en-US"/>
        </a:p>
      </dgm:t>
    </dgm:pt>
    <dgm:pt modelId="{261BD2E5-2310-4D69-A83C-6702AFE9F196}" type="sibTrans" cxnId="{D9FCE823-533E-49EE-B75E-8E21E6FB4D26}">
      <dgm:prSet/>
      <dgm:spPr/>
      <dgm:t>
        <a:bodyPr/>
        <a:lstStyle/>
        <a:p>
          <a:endParaRPr lang="en-US"/>
        </a:p>
      </dgm:t>
    </dgm:pt>
    <dgm:pt modelId="{A5211DCE-256B-47CC-AE57-E7D5A8EEAEE4}">
      <dgm:prSet/>
      <dgm:spPr/>
      <dgm:t>
        <a:bodyPr/>
        <a:lstStyle/>
        <a:p>
          <a:r>
            <a:rPr lang="en-ZA"/>
            <a:t>Database design</a:t>
          </a:r>
          <a:endParaRPr lang="en-US"/>
        </a:p>
      </dgm:t>
    </dgm:pt>
    <dgm:pt modelId="{23733D61-8A88-40F4-B41C-482615AC9ABE}" type="parTrans" cxnId="{43526CCF-101B-4519-B9E4-581B706F4709}">
      <dgm:prSet/>
      <dgm:spPr/>
      <dgm:t>
        <a:bodyPr/>
        <a:lstStyle/>
        <a:p>
          <a:endParaRPr lang="en-US"/>
        </a:p>
      </dgm:t>
    </dgm:pt>
    <dgm:pt modelId="{3F4CA368-0F2A-479A-91AE-C71755468404}" type="sibTrans" cxnId="{43526CCF-101B-4519-B9E4-581B706F4709}">
      <dgm:prSet/>
      <dgm:spPr/>
      <dgm:t>
        <a:bodyPr/>
        <a:lstStyle/>
        <a:p>
          <a:endParaRPr lang="en-US"/>
        </a:p>
      </dgm:t>
    </dgm:pt>
    <dgm:pt modelId="{3FB1774E-8F09-47FC-A605-079FBE030DA9}">
      <dgm:prSet/>
      <dgm:spPr/>
      <dgm:t>
        <a:bodyPr/>
        <a:lstStyle/>
        <a:p>
          <a:r>
            <a:rPr lang="en-ZA"/>
            <a:t>Metrics to consider</a:t>
          </a:r>
          <a:endParaRPr lang="en-US"/>
        </a:p>
      </dgm:t>
    </dgm:pt>
    <dgm:pt modelId="{B7D9ACE9-DF7D-48B6-84D5-5DC4CECBD52B}" type="parTrans" cxnId="{8F979193-3C5A-454E-9990-28852BC23E3D}">
      <dgm:prSet/>
      <dgm:spPr/>
      <dgm:t>
        <a:bodyPr/>
        <a:lstStyle/>
        <a:p>
          <a:endParaRPr lang="en-US"/>
        </a:p>
      </dgm:t>
    </dgm:pt>
    <dgm:pt modelId="{2EC71E83-3F48-4A6C-9A0B-F8C74039D6D9}" type="sibTrans" cxnId="{8F979193-3C5A-454E-9990-28852BC23E3D}">
      <dgm:prSet/>
      <dgm:spPr/>
      <dgm:t>
        <a:bodyPr/>
        <a:lstStyle/>
        <a:p>
          <a:endParaRPr lang="en-US"/>
        </a:p>
      </dgm:t>
    </dgm:pt>
    <dgm:pt modelId="{DBF67F1D-23E6-429C-96AB-2D3FC739C550}">
      <dgm:prSet/>
      <dgm:spPr/>
      <dgm:t>
        <a:bodyPr/>
        <a:lstStyle/>
        <a:p>
          <a:r>
            <a:rPr lang="en-ZA"/>
            <a:t>Execution performance (test in-house / make use of external reports)</a:t>
          </a:r>
          <a:endParaRPr lang="en-US"/>
        </a:p>
      </dgm:t>
    </dgm:pt>
    <dgm:pt modelId="{AE1EB01C-17C6-4F37-A4A9-001B4E2216C7}" type="parTrans" cxnId="{0E28F19A-5F55-4FF6-A8F7-CF79A6D3EBFD}">
      <dgm:prSet/>
      <dgm:spPr/>
      <dgm:t>
        <a:bodyPr/>
        <a:lstStyle/>
        <a:p>
          <a:endParaRPr lang="en-US"/>
        </a:p>
      </dgm:t>
    </dgm:pt>
    <dgm:pt modelId="{C066F919-A6A9-4725-83F3-15984B43BDB2}" type="sibTrans" cxnId="{0E28F19A-5F55-4FF6-A8F7-CF79A6D3EBFD}">
      <dgm:prSet/>
      <dgm:spPr/>
      <dgm:t>
        <a:bodyPr/>
        <a:lstStyle/>
        <a:p>
          <a:endParaRPr lang="en-US"/>
        </a:p>
      </dgm:t>
    </dgm:pt>
    <dgm:pt modelId="{F79BC516-D181-4DFC-91A0-F8DAF97CE345}">
      <dgm:prSet/>
      <dgm:spPr/>
      <dgm:t>
        <a:bodyPr/>
        <a:lstStyle/>
        <a:p>
          <a:r>
            <a:rPr lang="en-ZA"/>
            <a:t>Maintainability requirements</a:t>
          </a:r>
          <a:endParaRPr lang="en-US"/>
        </a:p>
      </dgm:t>
    </dgm:pt>
    <dgm:pt modelId="{2AF9BB9C-1192-4AE4-B488-D1C6F4A5AC75}" type="parTrans" cxnId="{0258C774-CE2D-4259-80F3-3CE2D5620EA1}">
      <dgm:prSet/>
      <dgm:spPr/>
      <dgm:t>
        <a:bodyPr/>
        <a:lstStyle/>
        <a:p>
          <a:endParaRPr lang="en-US"/>
        </a:p>
      </dgm:t>
    </dgm:pt>
    <dgm:pt modelId="{7C9F07F7-9084-456C-9898-AA7CB776FE27}" type="sibTrans" cxnId="{0258C774-CE2D-4259-80F3-3CE2D5620EA1}">
      <dgm:prSet/>
      <dgm:spPr/>
      <dgm:t>
        <a:bodyPr/>
        <a:lstStyle/>
        <a:p>
          <a:endParaRPr lang="en-US"/>
        </a:p>
      </dgm:t>
    </dgm:pt>
    <dgm:pt modelId="{BC49B39E-E04F-4EFD-8F8F-E483CE7EAFF2}">
      <dgm:prSet/>
      <dgm:spPr/>
      <dgm:t>
        <a:bodyPr/>
        <a:lstStyle/>
        <a:p>
          <a:r>
            <a:rPr lang="en-ZA"/>
            <a:t>Life-cycle cost</a:t>
          </a:r>
          <a:endParaRPr lang="en-US"/>
        </a:p>
      </dgm:t>
    </dgm:pt>
    <dgm:pt modelId="{33F026E3-0BFA-4504-9B1A-B5B709B6DA7A}" type="parTrans" cxnId="{FA8844B9-0517-42E6-BFB9-C98F8875CE3F}">
      <dgm:prSet/>
      <dgm:spPr/>
      <dgm:t>
        <a:bodyPr/>
        <a:lstStyle/>
        <a:p>
          <a:endParaRPr lang="en-US"/>
        </a:p>
      </dgm:t>
    </dgm:pt>
    <dgm:pt modelId="{B88AE2FA-8819-4942-81D2-DFC87EC881BE}" type="sibTrans" cxnId="{FA8844B9-0517-42E6-BFB9-C98F8875CE3F}">
      <dgm:prSet/>
      <dgm:spPr/>
      <dgm:t>
        <a:bodyPr/>
        <a:lstStyle/>
        <a:p>
          <a:endParaRPr lang="en-US"/>
        </a:p>
      </dgm:t>
    </dgm:pt>
    <dgm:pt modelId="{1B137C48-EFC4-41EF-829F-77376F408BA9}" type="pres">
      <dgm:prSet presAssocID="{992D46D5-BC27-43DE-9B83-2D22B759FD0D}" presName="linear" presStyleCnt="0">
        <dgm:presLayoutVars>
          <dgm:animLvl val="lvl"/>
          <dgm:resizeHandles val="exact"/>
        </dgm:presLayoutVars>
      </dgm:prSet>
      <dgm:spPr/>
    </dgm:pt>
    <dgm:pt modelId="{B53507D0-EEA5-4466-BA94-1B929E279B16}" type="pres">
      <dgm:prSet presAssocID="{4BE598CA-6869-49EA-880A-6254A3346310}" presName="parentText" presStyleLbl="node1" presStyleIdx="0" presStyleCnt="3">
        <dgm:presLayoutVars>
          <dgm:chMax val="0"/>
          <dgm:bulletEnabled val="1"/>
        </dgm:presLayoutVars>
      </dgm:prSet>
      <dgm:spPr/>
    </dgm:pt>
    <dgm:pt modelId="{85FD826C-E769-4E33-99AB-3C38C45F2C21}" type="pres">
      <dgm:prSet presAssocID="{4BE598CA-6869-49EA-880A-6254A3346310}" presName="childText" presStyleLbl="revTx" presStyleIdx="0" presStyleCnt="3">
        <dgm:presLayoutVars>
          <dgm:bulletEnabled val="1"/>
        </dgm:presLayoutVars>
      </dgm:prSet>
      <dgm:spPr/>
    </dgm:pt>
    <dgm:pt modelId="{AFE0E1C1-1D44-4169-B151-F30D5AB66BDE}" type="pres">
      <dgm:prSet presAssocID="{DA7547AA-3BB1-4FAB-BE3C-990300BF5F44}" presName="parentText" presStyleLbl="node1" presStyleIdx="1" presStyleCnt="3">
        <dgm:presLayoutVars>
          <dgm:chMax val="0"/>
          <dgm:bulletEnabled val="1"/>
        </dgm:presLayoutVars>
      </dgm:prSet>
      <dgm:spPr/>
    </dgm:pt>
    <dgm:pt modelId="{84E21E0E-BEB0-486B-9A3F-FF746546E528}" type="pres">
      <dgm:prSet presAssocID="{DA7547AA-3BB1-4FAB-BE3C-990300BF5F44}" presName="childText" presStyleLbl="revTx" presStyleIdx="1" presStyleCnt="3">
        <dgm:presLayoutVars>
          <dgm:bulletEnabled val="1"/>
        </dgm:presLayoutVars>
      </dgm:prSet>
      <dgm:spPr/>
    </dgm:pt>
    <dgm:pt modelId="{5B152121-C7F4-462F-A4CB-8907C6417B8D}" type="pres">
      <dgm:prSet presAssocID="{3FB1774E-8F09-47FC-A605-079FBE030DA9}" presName="parentText" presStyleLbl="node1" presStyleIdx="2" presStyleCnt="3">
        <dgm:presLayoutVars>
          <dgm:chMax val="0"/>
          <dgm:bulletEnabled val="1"/>
        </dgm:presLayoutVars>
      </dgm:prSet>
      <dgm:spPr/>
    </dgm:pt>
    <dgm:pt modelId="{8F3668DE-6F19-4121-9D1D-E6A2AB2A7427}" type="pres">
      <dgm:prSet presAssocID="{3FB1774E-8F09-47FC-A605-079FBE030DA9}" presName="childText" presStyleLbl="revTx" presStyleIdx="2" presStyleCnt="3">
        <dgm:presLayoutVars>
          <dgm:bulletEnabled val="1"/>
        </dgm:presLayoutVars>
      </dgm:prSet>
      <dgm:spPr/>
    </dgm:pt>
  </dgm:ptLst>
  <dgm:cxnLst>
    <dgm:cxn modelId="{7DA2CA09-158E-4CEB-9C06-D040509D443E}" srcId="{992D46D5-BC27-43DE-9B83-2D22B759FD0D}" destId="{DA7547AA-3BB1-4FAB-BE3C-990300BF5F44}" srcOrd="1" destOrd="0" parTransId="{92B17053-051C-47B9-BF48-2884FE4DF4DA}" sibTransId="{A52C7BA4-3173-4FF6-B0D6-3AA6FD270CA0}"/>
    <dgm:cxn modelId="{ACA8831A-B93D-4778-92BF-CD6A0B1E9F67}" type="presOf" srcId="{F79BC516-D181-4DFC-91A0-F8DAF97CE345}" destId="{8F3668DE-6F19-4121-9D1D-E6A2AB2A7427}" srcOrd="0" destOrd="1" presId="urn:microsoft.com/office/officeart/2005/8/layout/vList2"/>
    <dgm:cxn modelId="{8F1C2B1B-B56A-49E8-B2D8-795C28346D28}" srcId="{4BE598CA-6869-49EA-880A-6254A3346310}" destId="{C3461F5D-29CD-46B0-B6DC-4FBAABAC5D3B}" srcOrd="1" destOrd="0" parTransId="{38198083-AB4A-4891-B281-F30948DB068B}" sibTransId="{7AF6CE98-4A9C-4CB3-92D2-3D4D400A02EE}"/>
    <dgm:cxn modelId="{C7878C1E-0B4C-49DC-AF93-DBEEFEB3BE59}" type="presOf" srcId="{CE85883A-A3CD-478B-A4D2-309DB7A297D6}" destId="{85FD826C-E769-4E33-99AB-3C38C45F2C21}" srcOrd="0" destOrd="3" presId="urn:microsoft.com/office/officeart/2005/8/layout/vList2"/>
    <dgm:cxn modelId="{D9FCE823-533E-49EE-B75E-8E21E6FB4D26}" srcId="{DA7547AA-3BB1-4FAB-BE3C-990300BF5F44}" destId="{C1AC94BC-CD06-41FC-B596-DE3AFC4C4DB6}" srcOrd="1" destOrd="0" parTransId="{F85F2207-56E7-4379-9E90-93C9B4863DDD}" sibTransId="{261BD2E5-2310-4D69-A83C-6702AFE9F196}"/>
    <dgm:cxn modelId="{764CB73C-61BF-40C9-93C6-5EC03F84702C}" srcId="{4BE598CA-6869-49EA-880A-6254A3346310}" destId="{46E6C900-5E8B-47CF-976A-2AA72FCE1881}" srcOrd="0" destOrd="0" parTransId="{AAC30E9F-0ED6-475B-AE3B-6F9374106FE4}" sibTransId="{B19D5467-0954-4B61-9111-31B37CBC6BD5}"/>
    <dgm:cxn modelId="{67523846-ECBE-4BDD-B180-AA2E60B251BF}" srcId="{4BE598CA-6869-49EA-880A-6254A3346310}" destId="{CE85883A-A3CD-478B-A4D2-309DB7A297D6}" srcOrd="3" destOrd="0" parTransId="{AEB4D3B1-66D3-45F0-BA9A-6B77164BA660}" sibTransId="{184DE78A-C8C3-44C6-B466-BA198C5710D1}"/>
    <dgm:cxn modelId="{0AB6E64D-EBE5-47BB-813D-C25DEB18AEF3}" type="presOf" srcId="{DA7547AA-3BB1-4FAB-BE3C-990300BF5F44}" destId="{AFE0E1C1-1D44-4169-B151-F30D5AB66BDE}" srcOrd="0" destOrd="0" presId="urn:microsoft.com/office/officeart/2005/8/layout/vList2"/>
    <dgm:cxn modelId="{F23BF24F-32AB-4ACB-8899-17209D65E67D}" type="presOf" srcId="{3FB1774E-8F09-47FC-A605-079FBE030DA9}" destId="{5B152121-C7F4-462F-A4CB-8907C6417B8D}" srcOrd="0" destOrd="0" presId="urn:microsoft.com/office/officeart/2005/8/layout/vList2"/>
    <dgm:cxn modelId="{DE1C1F53-6F6A-4493-A063-A1F7979459F9}" type="presOf" srcId="{96D9958B-7492-4E68-8BB4-47D1C642CE9B}" destId="{84E21E0E-BEB0-486B-9A3F-FF746546E528}" srcOrd="0" destOrd="0" presId="urn:microsoft.com/office/officeart/2005/8/layout/vList2"/>
    <dgm:cxn modelId="{0258C774-CE2D-4259-80F3-3CE2D5620EA1}" srcId="{3FB1774E-8F09-47FC-A605-079FBE030DA9}" destId="{F79BC516-D181-4DFC-91A0-F8DAF97CE345}" srcOrd="1" destOrd="0" parTransId="{2AF9BB9C-1192-4AE4-B488-D1C6F4A5AC75}" sibTransId="{7C9F07F7-9084-456C-9898-AA7CB776FE27}"/>
    <dgm:cxn modelId="{794DD457-3A64-4028-BDCA-D055C0AE1B8C}" srcId="{DA7547AA-3BB1-4FAB-BE3C-990300BF5F44}" destId="{96D9958B-7492-4E68-8BB4-47D1C642CE9B}" srcOrd="0" destOrd="0" parTransId="{5B25FFF6-408F-4508-AE65-DC0D36172B37}" sibTransId="{0464831B-E7E8-4371-92FB-A247C96CE469}"/>
    <dgm:cxn modelId="{A525DB7E-3F14-4DAA-BB64-4B93EC0ABACB}" srcId="{4BE598CA-6869-49EA-880A-6254A3346310}" destId="{32EEB917-AEB9-407B-8706-9B114A6EDD4B}" srcOrd="2" destOrd="0" parTransId="{5949C2D9-5DE9-4FCF-8403-1CEA9DDBD2B1}" sibTransId="{69EA840D-0032-40E4-B99D-6A168F527C0A}"/>
    <dgm:cxn modelId="{FD127682-F87C-4859-8E97-4F5CD8BD6761}" type="presOf" srcId="{BC49B39E-E04F-4EFD-8F8F-E483CE7EAFF2}" destId="{8F3668DE-6F19-4121-9D1D-E6A2AB2A7427}" srcOrd="0" destOrd="2" presId="urn:microsoft.com/office/officeart/2005/8/layout/vList2"/>
    <dgm:cxn modelId="{9FB2E58F-07DB-4664-A408-1F905EA157A8}" type="presOf" srcId="{C1AC94BC-CD06-41FC-B596-DE3AFC4C4DB6}" destId="{84E21E0E-BEB0-486B-9A3F-FF746546E528}" srcOrd="0" destOrd="1" presId="urn:microsoft.com/office/officeart/2005/8/layout/vList2"/>
    <dgm:cxn modelId="{C99C1D91-DE4F-4881-AFA7-C2D632509DF3}" type="presOf" srcId="{46E6C900-5E8B-47CF-976A-2AA72FCE1881}" destId="{85FD826C-E769-4E33-99AB-3C38C45F2C21}" srcOrd="0" destOrd="0" presId="urn:microsoft.com/office/officeart/2005/8/layout/vList2"/>
    <dgm:cxn modelId="{8F979193-3C5A-454E-9990-28852BC23E3D}" srcId="{992D46D5-BC27-43DE-9B83-2D22B759FD0D}" destId="{3FB1774E-8F09-47FC-A605-079FBE030DA9}" srcOrd="2" destOrd="0" parTransId="{B7D9ACE9-DF7D-48B6-84D5-5DC4CECBD52B}" sibTransId="{2EC71E83-3F48-4A6C-9A0B-F8C74039D6D9}"/>
    <dgm:cxn modelId="{0E28F19A-5F55-4FF6-A8F7-CF79A6D3EBFD}" srcId="{3FB1774E-8F09-47FC-A605-079FBE030DA9}" destId="{DBF67F1D-23E6-429C-96AB-2D3FC739C550}" srcOrd="0" destOrd="0" parTransId="{AE1EB01C-17C6-4F37-A4A9-001B4E2216C7}" sibTransId="{C066F919-A6A9-4725-83F3-15984B43BDB2}"/>
    <dgm:cxn modelId="{756CBD9B-E18A-495E-8D8D-EB5F2B8B6DEC}" type="presOf" srcId="{32EEB917-AEB9-407B-8706-9B114A6EDD4B}" destId="{85FD826C-E769-4E33-99AB-3C38C45F2C21}" srcOrd="0" destOrd="2" presId="urn:microsoft.com/office/officeart/2005/8/layout/vList2"/>
    <dgm:cxn modelId="{FA8844B9-0517-42E6-BFB9-C98F8875CE3F}" srcId="{3FB1774E-8F09-47FC-A605-079FBE030DA9}" destId="{BC49B39E-E04F-4EFD-8F8F-E483CE7EAFF2}" srcOrd="2" destOrd="0" parTransId="{33F026E3-0BFA-4504-9B1A-B5B709B6DA7A}" sibTransId="{B88AE2FA-8819-4942-81D2-DFC87EC881BE}"/>
    <dgm:cxn modelId="{A116ADC8-B050-408F-B91B-8F9188F63047}" type="presOf" srcId="{992D46D5-BC27-43DE-9B83-2D22B759FD0D}" destId="{1B137C48-EFC4-41EF-829F-77376F408BA9}" srcOrd="0" destOrd="0" presId="urn:microsoft.com/office/officeart/2005/8/layout/vList2"/>
    <dgm:cxn modelId="{2E0AD4C8-1C97-46A3-945C-B4FCEDB54870}" type="presOf" srcId="{C3461F5D-29CD-46B0-B6DC-4FBAABAC5D3B}" destId="{85FD826C-E769-4E33-99AB-3C38C45F2C21}" srcOrd="0" destOrd="1" presId="urn:microsoft.com/office/officeart/2005/8/layout/vList2"/>
    <dgm:cxn modelId="{162F18CE-D2CA-49ED-973C-E732B82950A4}" type="presOf" srcId="{4BE598CA-6869-49EA-880A-6254A3346310}" destId="{B53507D0-EEA5-4466-BA94-1B929E279B16}" srcOrd="0" destOrd="0" presId="urn:microsoft.com/office/officeart/2005/8/layout/vList2"/>
    <dgm:cxn modelId="{43526CCF-101B-4519-B9E4-581B706F4709}" srcId="{DA7547AA-3BB1-4FAB-BE3C-990300BF5F44}" destId="{A5211DCE-256B-47CC-AE57-E7D5A8EEAEE4}" srcOrd="2" destOrd="0" parTransId="{23733D61-8A88-40F4-B41C-482615AC9ABE}" sibTransId="{3F4CA368-0F2A-479A-91AE-C71755468404}"/>
    <dgm:cxn modelId="{A07A49F3-EBE5-4C2D-AD6B-C51A6B40DEAC}" type="presOf" srcId="{DBF67F1D-23E6-429C-96AB-2D3FC739C550}" destId="{8F3668DE-6F19-4121-9D1D-E6A2AB2A7427}" srcOrd="0" destOrd="0" presId="urn:microsoft.com/office/officeart/2005/8/layout/vList2"/>
    <dgm:cxn modelId="{2E1987FB-F4F1-4FF4-AF19-D3EBB049D9E9}" srcId="{992D46D5-BC27-43DE-9B83-2D22B759FD0D}" destId="{4BE598CA-6869-49EA-880A-6254A3346310}" srcOrd="0" destOrd="0" parTransId="{F1188880-BD8E-4C45-9054-10A3C86D06A7}" sibTransId="{233413D4-B675-4FAB-94BE-CA1F6E53B02A}"/>
    <dgm:cxn modelId="{1EF753FC-96C8-4506-A5C9-DD0B5EDEA04B}" type="presOf" srcId="{A5211DCE-256B-47CC-AE57-E7D5A8EEAEE4}" destId="{84E21E0E-BEB0-486B-9A3F-FF746546E528}" srcOrd="0" destOrd="2" presId="urn:microsoft.com/office/officeart/2005/8/layout/vList2"/>
    <dgm:cxn modelId="{A6FF5D73-C1AA-4AB1-8E26-4CE8E6B34996}" type="presParOf" srcId="{1B137C48-EFC4-41EF-829F-77376F408BA9}" destId="{B53507D0-EEA5-4466-BA94-1B929E279B16}" srcOrd="0" destOrd="0" presId="urn:microsoft.com/office/officeart/2005/8/layout/vList2"/>
    <dgm:cxn modelId="{F25B4F75-D166-4F3D-8CBB-2FB164EAEE77}" type="presParOf" srcId="{1B137C48-EFC4-41EF-829F-77376F408BA9}" destId="{85FD826C-E769-4E33-99AB-3C38C45F2C21}" srcOrd="1" destOrd="0" presId="urn:microsoft.com/office/officeart/2005/8/layout/vList2"/>
    <dgm:cxn modelId="{609D499B-4661-4430-AE9E-C1B6206234B5}" type="presParOf" srcId="{1B137C48-EFC4-41EF-829F-77376F408BA9}" destId="{AFE0E1C1-1D44-4169-B151-F30D5AB66BDE}" srcOrd="2" destOrd="0" presId="urn:microsoft.com/office/officeart/2005/8/layout/vList2"/>
    <dgm:cxn modelId="{D9E95A13-02C8-4409-9269-179C00391E5D}" type="presParOf" srcId="{1B137C48-EFC4-41EF-829F-77376F408BA9}" destId="{84E21E0E-BEB0-486B-9A3F-FF746546E528}" srcOrd="3" destOrd="0" presId="urn:microsoft.com/office/officeart/2005/8/layout/vList2"/>
    <dgm:cxn modelId="{3B045220-58B3-4EAC-9FC4-FEFA48C67D73}" type="presParOf" srcId="{1B137C48-EFC4-41EF-829F-77376F408BA9}" destId="{5B152121-C7F4-462F-A4CB-8907C6417B8D}" srcOrd="4" destOrd="0" presId="urn:microsoft.com/office/officeart/2005/8/layout/vList2"/>
    <dgm:cxn modelId="{4C085C7F-2270-4699-8AD4-A983B057AD40}" type="presParOf" srcId="{1B137C48-EFC4-41EF-829F-77376F408BA9}" destId="{8F3668DE-6F19-4121-9D1D-E6A2AB2A7427}"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507D0-EEA5-4466-BA94-1B929E279B16}">
      <dsp:nvSpPr>
        <dsp:cNvPr id="0" name=""/>
        <dsp:cNvSpPr/>
      </dsp:nvSpPr>
      <dsp:spPr>
        <a:xfrm>
          <a:off x="0" y="18169"/>
          <a:ext cx="5990135" cy="551655"/>
        </a:xfrm>
        <a:prstGeom prst="roundRect">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ZA" sz="2300" kern="1200"/>
            <a:t>System level</a:t>
          </a:r>
          <a:endParaRPr lang="en-US" sz="2300" kern="1200"/>
        </a:p>
      </dsp:txBody>
      <dsp:txXfrm>
        <a:off x="26930" y="45099"/>
        <a:ext cx="5936275" cy="497795"/>
      </dsp:txXfrm>
    </dsp:sp>
    <dsp:sp modelId="{85FD826C-E769-4E33-99AB-3C38C45F2C21}">
      <dsp:nvSpPr>
        <dsp:cNvPr id="0" name=""/>
        <dsp:cNvSpPr/>
      </dsp:nvSpPr>
      <dsp:spPr>
        <a:xfrm>
          <a:off x="0" y="569824"/>
          <a:ext cx="5990135" cy="1475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18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ZA" sz="1800" kern="1200"/>
            <a:t>Stand-alone, cloud, hybrid</a:t>
          </a:r>
          <a:endParaRPr lang="en-US" sz="1800" kern="1200"/>
        </a:p>
        <a:p>
          <a:pPr marL="171450" lvl="1" indent="-171450" algn="l" defTabSz="800100">
            <a:lnSpc>
              <a:spcPct val="90000"/>
            </a:lnSpc>
            <a:spcBef>
              <a:spcPct val="0"/>
            </a:spcBef>
            <a:spcAft>
              <a:spcPct val="20000"/>
            </a:spcAft>
            <a:buChar char="•"/>
          </a:pPr>
          <a:r>
            <a:rPr lang="en-ZA" sz="1800" kern="1200"/>
            <a:t>Native / framework based</a:t>
          </a:r>
          <a:endParaRPr lang="en-US" sz="1800" kern="1200"/>
        </a:p>
        <a:p>
          <a:pPr marL="171450" lvl="1" indent="-171450" algn="l" defTabSz="800100">
            <a:lnSpc>
              <a:spcPct val="90000"/>
            </a:lnSpc>
            <a:spcBef>
              <a:spcPct val="0"/>
            </a:spcBef>
            <a:spcAft>
              <a:spcPct val="20000"/>
            </a:spcAft>
            <a:buChar char="•"/>
          </a:pPr>
          <a:r>
            <a:rPr lang="en-ZA" sz="1800" kern="1200"/>
            <a:t>Scalability aspects particularly as it pertains to data</a:t>
          </a:r>
          <a:endParaRPr lang="en-US" sz="1800" kern="1200"/>
        </a:p>
        <a:p>
          <a:pPr marL="171450" lvl="1" indent="-171450" algn="l" defTabSz="800100">
            <a:lnSpc>
              <a:spcPct val="90000"/>
            </a:lnSpc>
            <a:spcBef>
              <a:spcPct val="0"/>
            </a:spcBef>
            <a:spcAft>
              <a:spcPct val="20000"/>
            </a:spcAft>
            <a:buChar char="•"/>
          </a:pPr>
          <a:r>
            <a:rPr lang="en-ZA" sz="1800" kern="1200"/>
            <a:t>Usability requirements</a:t>
          </a:r>
          <a:endParaRPr lang="en-US" sz="1800" kern="1200"/>
        </a:p>
      </dsp:txBody>
      <dsp:txXfrm>
        <a:off x="0" y="569824"/>
        <a:ext cx="5990135" cy="1475910"/>
      </dsp:txXfrm>
    </dsp:sp>
    <dsp:sp modelId="{AFE0E1C1-1D44-4169-B151-F30D5AB66BDE}">
      <dsp:nvSpPr>
        <dsp:cNvPr id="0" name=""/>
        <dsp:cNvSpPr/>
      </dsp:nvSpPr>
      <dsp:spPr>
        <a:xfrm>
          <a:off x="0" y="2045734"/>
          <a:ext cx="5990135" cy="551655"/>
        </a:xfrm>
        <a:prstGeom prst="roundRect">
          <a:avLst/>
        </a:prstGeom>
        <a:solidFill>
          <a:schemeClr val="accent2">
            <a:hueOff val="-3712334"/>
            <a:satOff val="1211"/>
            <a:lumOff val="-107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ZA" sz="2300" kern="1200"/>
            <a:t>Component level</a:t>
          </a:r>
          <a:endParaRPr lang="en-US" sz="2300" kern="1200"/>
        </a:p>
      </dsp:txBody>
      <dsp:txXfrm>
        <a:off x="26930" y="2072664"/>
        <a:ext cx="5936275" cy="497795"/>
      </dsp:txXfrm>
    </dsp:sp>
    <dsp:sp modelId="{84E21E0E-BEB0-486B-9A3F-FF746546E528}">
      <dsp:nvSpPr>
        <dsp:cNvPr id="0" name=""/>
        <dsp:cNvSpPr/>
      </dsp:nvSpPr>
      <dsp:spPr>
        <a:xfrm>
          <a:off x="0" y="2597389"/>
          <a:ext cx="5990135" cy="928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18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ZA" sz="1800" kern="1200"/>
            <a:t>Specific frameworks / toolboxes / cloud providers</a:t>
          </a:r>
          <a:endParaRPr lang="en-US" sz="1800" kern="1200"/>
        </a:p>
        <a:p>
          <a:pPr marL="171450" lvl="1" indent="-171450" algn="l" defTabSz="800100">
            <a:lnSpc>
              <a:spcPct val="90000"/>
            </a:lnSpc>
            <a:spcBef>
              <a:spcPct val="0"/>
            </a:spcBef>
            <a:spcAft>
              <a:spcPct val="20000"/>
            </a:spcAft>
            <a:buChar char="•"/>
          </a:pPr>
          <a:r>
            <a:rPr lang="en-ZA" sz="1800" kern="1200"/>
            <a:t>Possibly cloud architecture (if applicable)</a:t>
          </a:r>
          <a:endParaRPr lang="en-US" sz="1800" kern="1200"/>
        </a:p>
        <a:p>
          <a:pPr marL="171450" lvl="1" indent="-171450" algn="l" defTabSz="800100">
            <a:lnSpc>
              <a:spcPct val="90000"/>
            </a:lnSpc>
            <a:spcBef>
              <a:spcPct val="0"/>
            </a:spcBef>
            <a:spcAft>
              <a:spcPct val="20000"/>
            </a:spcAft>
            <a:buChar char="•"/>
          </a:pPr>
          <a:r>
            <a:rPr lang="en-ZA" sz="1800" kern="1200"/>
            <a:t>Database design</a:t>
          </a:r>
          <a:endParaRPr lang="en-US" sz="1800" kern="1200"/>
        </a:p>
      </dsp:txBody>
      <dsp:txXfrm>
        <a:off x="0" y="2597389"/>
        <a:ext cx="5990135" cy="928395"/>
      </dsp:txXfrm>
    </dsp:sp>
    <dsp:sp modelId="{5B152121-C7F4-462F-A4CB-8907C6417B8D}">
      <dsp:nvSpPr>
        <dsp:cNvPr id="0" name=""/>
        <dsp:cNvSpPr/>
      </dsp:nvSpPr>
      <dsp:spPr>
        <a:xfrm>
          <a:off x="0" y="3525784"/>
          <a:ext cx="5990135" cy="551655"/>
        </a:xfrm>
        <a:prstGeom prst="roundRect">
          <a:avLst/>
        </a:prstGeom>
        <a:solidFill>
          <a:schemeClr val="accent2">
            <a:hueOff val="-7424668"/>
            <a:satOff val="2422"/>
            <a:lumOff val="-2157"/>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ZA" sz="2300" kern="1200"/>
            <a:t>Metrics to consider</a:t>
          </a:r>
          <a:endParaRPr lang="en-US" sz="2300" kern="1200"/>
        </a:p>
      </dsp:txBody>
      <dsp:txXfrm>
        <a:off x="26930" y="3552714"/>
        <a:ext cx="5936275" cy="497795"/>
      </dsp:txXfrm>
    </dsp:sp>
    <dsp:sp modelId="{8F3668DE-6F19-4121-9D1D-E6A2AB2A7427}">
      <dsp:nvSpPr>
        <dsp:cNvPr id="0" name=""/>
        <dsp:cNvSpPr/>
      </dsp:nvSpPr>
      <dsp:spPr>
        <a:xfrm>
          <a:off x="0" y="4077439"/>
          <a:ext cx="5990135" cy="1166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18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ZA" sz="1800" kern="1200"/>
            <a:t>Execution performance (test in-house / make use of external reports)</a:t>
          </a:r>
          <a:endParaRPr lang="en-US" sz="1800" kern="1200"/>
        </a:p>
        <a:p>
          <a:pPr marL="171450" lvl="1" indent="-171450" algn="l" defTabSz="800100">
            <a:lnSpc>
              <a:spcPct val="90000"/>
            </a:lnSpc>
            <a:spcBef>
              <a:spcPct val="0"/>
            </a:spcBef>
            <a:spcAft>
              <a:spcPct val="20000"/>
            </a:spcAft>
            <a:buChar char="•"/>
          </a:pPr>
          <a:r>
            <a:rPr lang="en-ZA" sz="1800" kern="1200"/>
            <a:t>Maintainability requirements</a:t>
          </a:r>
          <a:endParaRPr lang="en-US" sz="1800" kern="1200"/>
        </a:p>
        <a:p>
          <a:pPr marL="171450" lvl="1" indent="-171450" algn="l" defTabSz="800100">
            <a:lnSpc>
              <a:spcPct val="90000"/>
            </a:lnSpc>
            <a:spcBef>
              <a:spcPct val="0"/>
            </a:spcBef>
            <a:spcAft>
              <a:spcPct val="20000"/>
            </a:spcAft>
            <a:buChar char="•"/>
          </a:pPr>
          <a:r>
            <a:rPr lang="en-ZA" sz="1800" kern="1200"/>
            <a:t>Life-cycle cost</a:t>
          </a:r>
          <a:endParaRPr lang="en-US" sz="1800" kern="1200"/>
        </a:p>
      </dsp:txBody>
      <dsp:txXfrm>
        <a:off x="0" y="4077439"/>
        <a:ext cx="5990135" cy="116644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7366CC-FCEB-4CFC-AFF0-39126A6027CE}" type="datetimeFigureOut">
              <a:rPr lang="en-GB" smtClean="0"/>
              <a:t>12/11/2025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0C0789-A8EB-40D1-B232-108382DA485E}" type="slidenum">
              <a:rPr lang="en-GB" smtClean="0"/>
              <a:t>‹#›</a:t>
            </a:fld>
            <a:endParaRPr lang="en-GB"/>
          </a:p>
        </p:txBody>
      </p:sp>
    </p:spTree>
    <p:extLst>
      <p:ext uri="{BB962C8B-B14F-4D97-AF65-F5344CB8AC3E}">
        <p14:creationId xmlns:p14="http://schemas.microsoft.com/office/powerpoint/2010/main" val="2593700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Since physical models are the most expensive</a:t>
            </a:r>
            <a:r>
              <a:rPr lang="en-GB" baseline="0" dirty="0"/>
              <a:t> we typical try and minimise the use thereof. In some cases their use cannot be avoided, and additional insight is gained. Before selecting a physical prototype determine if there is not a more suitable means of achieving the same goal.</a:t>
            </a:r>
          </a:p>
          <a:p>
            <a:endParaRPr lang="en-GB" baseline="0" dirty="0"/>
          </a:p>
          <a:p>
            <a:r>
              <a:rPr lang="en-GB" baseline="0" dirty="0"/>
              <a:t>The objective of technical analysis is to determine how well the system / sub-system / component needs to perform a function. In a sense technical analysis is very similar to requirements analysis….</a:t>
            </a:r>
            <a:endParaRPr lang="en-GB" dirty="0"/>
          </a:p>
        </p:txBody>
      </p:sp>
      <p:sp>
        <p:nvSpPr>
          <p:cNvPr id="4" name="Slide Number Placeholder 3"/>
          <p:cNvSpPr>
            <a:spLocks noGrp="1"/>
          </p:cNvSpPr>
          <p:nvPr>
            <p:ph type="sldNum" sz="quarter" idx="10"/>
          </p:nvPr>
        </p:nvSpPr>
        <p:spPr/>
        <p:txBody>
          <a:bodyPr/>
          <a:lstStyle/>
          <a:p>
            <a:fld id="{ED0C0789-A8EB-40D1-B232-108382DA485E}" type="slidenum">
              <a:rPr lang="en-GB" smtClean="0"/>
              <a:t>6</a:t>
            </a:fld>
            <a:endParaRPr lang="en-GB"/>
          </a:p>
        </p:txBody>
      </p:sp>
    </p:spTree>
    <p:extLst>
      <p:ext uri="{BB962C8B-B14F-4D97-AF65-F5344CB8AC3E}">
        <p14:creationId xmlns:p14="http://schemas.microsoft.com/office/powerpoint/2010/main" val="2936945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classification of technical</a:t>
            </a:r>
            <a:r>
              <a:rPr lang="en-GB" baseline="0" dirty="0"/>
              <a:t> risk can be interpreted as follows:</a:t>
            </a:r>
          </a:p>
          <a:p>
            <a:endParaRPr lang="en-GB" baseline="0" dirty="0"/>
          </a:p>
          <a:p>
            <a:pPr marL="228600" indent="-228600">
              <a:buAutoNum type="arabicPeriod"/>
            </a:pPr>
            <a:r>
              <a:rPr lang="en-GB" baseline="0" dirty="0"/>
              <a:t>You plan to do something that you’ve done before, using known tools, in EXACTLY the same way. (Basically a copy and paste solution) (12x2 character LCD to a PIC24F MCU)</a:t>
            </a:r>
          </a:p>
          <a:p>
            <a:pPr marL="228600" indent="-228600">
              <a:buAutoNum type="arabicPeriod"/>
            </a:pPr>
            <a:r>
              <a:rPr lang="en-GB" baseline="0" dirty="0"/>
              <a:t>You plan on doing something that you’ve done before, using known tools, in a similar way (Very little is unknown) (16x4 LCD screen to a PIC24H)</a:t>
            </a:r>
          </a:p>
          <a:p>
            <a:pPr marL="228600" indent="-228600">
              <a:buAutoNum type="arabicPeriod"/>
            </a:pPr>
            <a:r>
              <a:rPr lang="en-GB" baseline="0" dirty="0"/>
              <a:t>Familiar technology in a new context (LCD screen to a STM32 </a:t>
            </a:r>
            <a:r>
              <a:rPr lang="en-GB" baseline="0" dirty="0" err="1"/>
              <a:t>Nucleo</a:t>
            </a:r>
            <a:r>
              <a:rPr lang="en-GB" baseline="0" dirty="0"/>
              <a:t>), or New tech to existing context (Graphic LCD to a PIC24F)</a:t>
            </a:r>
          </a:p>
          <a:p>
            <a:pPr marL="228600" indent="-228600">
              <a:buAutoNum type="arabicPeriod"/>
            </a:pPr>
            <a:r>
              <a:rPr lang="en-GB" baseline="0" dirty="0"/>
              <a:t>New technology to a new context (Graphic LCD to a STM32 </a:t>
            </a:r>
            <a:r>
              <a:rPr lang="en-GB" baseline="0" dirty="0" err="1"/>
              <a:t>Nucleo</a:t>
            </a:r>
            <a:r>
              <a:rPr lang="en-GB" baseline="0" dirty="0"/>
              <a:t>)</a:t>
            </a:r>
          </a:p>
          <a:p>
            <a:pPr marL="228600" indent="-228600">
              <a:buAutoNum type="arabicPeriod"/>
            </a:pPr>
            <a:r>
              <a:rPr lang="en-GB" baseline="0" dirty="0"/>
              <a:t>Capacitive Touch screen to a FPGA</a:t>
            </a:r>
          </a:p>
          <a:p>
            <a:pPr marL="228600" indent="-228600">
              <a:buAutoNum type="arabicPeriod"/>
            </a:pPr>
            <a:endParaRPr lang="en-GB" baseline="0" dirty="0"/>
          </a:p>
          <a:p>
            <a:pPr marL="0" indent="0">
              <a:buNone/>
            </a:pPr>
            <a:r>
              <a:rPr lang="en-GB" baseline="0" dirty="0"/>
              <a:t>From the above it should be clear how the risk (from a level of uncertainty increases. Generally, we would like to remain in the 1-3 range, with some level 4 risks being acceptable. Level 5 risks are inherently very risky and should be minimised if not avoidable. A project with mainly level 5 risks will be very difficult to deliver on time (if at all).</a:t>
            </a:r>
          </a:p>
          <a:p>
            <a:pPr marL="0" indent="0">
              <a:buNone/>
            </a:pPr>
            <a:endParaRPr lang="en-GB" baseline="0" dirty="0"/>
          </a:p>
          <a:p>
            <a:pPr marL="0" indent="0">
              <a:buNone/>
            </a:pPr>
            <a:r>
              <a:rPr lang="en-GB" baseline="0" dirty="0"/>
              <a:t>An Electrical Engineering example might be</a:t>
            </a:r>
          </a:p>
          <a:p>
            <a:pPr marL="228600" indent="-228600">
              <a:buAutoNum type="arabicPeriod"/>
            </a:pPr>
            <a:r>
              <a:rPr lang="en-GB" baseline="0" dirty="0"/>
              <a:t>Using a BJT to drive a DC motor</a:t>
            </a:r>
          </a:p>
          <a:p>
            <a:pPr marL="228600" indent="-228600">
              <a:buAutoNum type="arabicPeriod"/>
            </a:pPr>
            <a:r>
              <a:rPr lang="en-GB" baseline="0" dirty="0"/>
              <a:t>Using a MOSFET and a 555 to provide PWM to a DC motor</a:t>
            </a:r>
          </a:p>
          <a:p>
            <a:pPr marL="228600" indent="-228600">
              <a:buAutoNum type="arabicPeriod"/>
            </a:pPr>
            <a:r>
              <a:rPr lang="en-GB" baseline="0" dirty="0"/>
              <a:t>Using a MOSFET H-Bridge to drive a DC motor</a:t>
            </a:r>
          </a:p>
          <a:p>
            <a:pPr marL="228600" indent="-228600">
              <a:buAutoNum type="arabicPeriod"/>
            </a:pPr>
            <a:r>
              <a:rPr lang="en-GB" baseline="0" dirty="0"/>
              <a:t>Using a H-Bridge driver and DC motor in a overhead crane design</a:t>
            </a:r>
          </a:p>
          <a:p>
            <a:pPr marL="228600" indent="-228600">
              <a:buAutoNum type="arabicPeriod"/>
            </a:pPr>
            <a:r>
              <a:rPr lang="en-GB" baseline="0" dirty="0"/>
              <a:t>Using a stepper motor and </a:t>
            </a:r>
            <a:r>
              <a:rPr lang="en-GB" baseline="0" dirty="0" err="1"/>
              <a:t>dSPIN</a:t>
            </a:r>
            <a:r>
              <a:rPr lang="en-GB" baseline="0" dirty="0"/>
              <a:t> driver in a 3D printer design</a:t>
            </a:r>
          </a:p>
          <a:p>
            <a:pPr marL="228600" indent="-228600">
              <a:buAutoNum type="arabicPeriod"/>
            </a:pPr>
            <a:endParaRPr lang="en-GB" baseline="0" dirty="0"/>
          </a:p>
          <a:p>
            <a:pPr marL="0" indent="0">
              <a:buNone/>
            </a:pPr>
            <a:r>
              <a:rPr lang="en-GB" baseline="0" dirty="0"/>
              <a:t>Note: The above classification of risk is with reference to the analyst. Thus if someone, did something similar on the internet but you’ve not yet the risk remains high. Surely, the risk in real terms might be a little lower (not completely unfamiliar) but you’re depending on the quality of the found solution.</a:t>
            </a:r>
          </a:p>
        </p:txBody>
      </p:sp>
      <p:sp>
        <p:nvSpPr>
          <p:cNvPr id="4" name="Slide Number Placeholder 3"/>
          <p:cNvSpPr>
            <a:spLocks noGrp="1"/>
          </p:cNvSpPr>
          <p:nvPr>
            <p:ph type="sldNum" sz="quarter" idx="10"/>
          </p:nvPr>
        </p:nvSpPr>
        <p:spPr/>
        <p:txBody>
          <a:bodyPr/>
          <a:lstStyle/>
          <a:p>
            <a:fld id="{ED0C0789-A8EB-40D1-B232-108382DA485E}" type="slidenum">
              <a:rPr lang="en-GB" smtClean="0"/>
              <a:t>8</a:t>
            </a:fld>
            <a:endParaRPr lang="en-GB"/>
          </a:p>
        </p:txBody>
      </p:sp>
    </p:spTree>
    <p:extLst>
      <p:ext uri="{BB962C8B-B14F-4D97-AF65-F5344CB8AC3E}">
        <p14:creationId xmlns:p14="http://schemas.microsoft.com/office/powerpoint/2010/main" val="677701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D0C0789-A8EB-40D1-B232-108382DA485E}" type="slidenum">
              <a:rPr lang="en-GB" smtClean="0"/>
              <a:t>12</a:t>
            </a:fld>
            <a:endParaRPr lang="en-GB"/>
          </a:p>
        </p:txBody>
      </p:sp>
    </p:spTree>
    <p:extLst>
      <p:ext uri="{BB962C8B-B14F-4D97-AF65-F5344CB8AC3E}">
        <p14:creationId xmlns:p14="http://schemas.microsoft.com/office/powerpoint/2010/main" val="3802061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resistive</a:t>
            </a:r>
            <a:r>
              <a:rPr lang="en-GB" baseline="0" dirty="0"/>
              <a:t> element is eliminated based on the system architecture. Since the sensor is connected to the control panel, and the user interacts with the said control panel, isolation between primary and secondary sides of the current transducer is a requirements.</a:t>
            </a:r>
          </a:p>
          <a:p>
            <a:endParaRPr lang="en-GB" baseline="0" dirty="0"/>
          </a:p>
          <a:p>
            <a:r>
              <a:rPr lang="en-GB" baseline="0" dirty="0"/>
              <a:t>As such the resistive element is not considered as functionally capable. This will not always be the case, and in other scenarios many more alternatives may be removed in this fashion. HOWEVER, justification must always be provided. Simply stating “based on experience” or “in the opinion of” lacks rigour and is not acceptable.</a:t>
            </a:r>
            <a:endParaRPr lang="en-GB" dirty="0"/>
          </a:p>
        </p:txBody>
      </p:sp>
      <p:sp>
        <p:nvSpPr>
          <p:cNvPr id="4" name="Slide Number Placeholder 3"/>
          <p:cNvSpPr>
            <a:spLocks noGrp="1"/>
          </p:cNvSpPr>
          <p:nvPr>
            <p:ph type="sldNum" sz="quarter" idx="10"/>
          </p:nvPr>
        </p:nvSpPr>
        <p:spPr/>
        <p:txBody>
          <a:bodyPr/>
          <a:lstStyle/>
          <a:p>
            <a:fld id="{ED0C0789-A8EB-40D1-B232-108382DA485E}" type="slidenum">
              <a:rPr lang="en-GB" smtClean="0"/>
              <a:t>15</a:t>
            </a:fld>
            <a:endParaRPr lang="en-GB"/>
          </a:p>
        </p:txBody>
      </p:sp>
    </p:spTree>
    <p:extLst>
      <p:ext uri="{BB962C8B-B14F-4D97-AF65-F5344CB8AC3E}">
        <p14:creationId xmlns:p14="http://schemas.microsoft.com/office/powerpoint/2010/main" val="4123795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mapping between the input range and the utility</a:t>
            </a:r>
            <a:r>
              <a:rPr lang="en-GB" baseline="0" dirty="0"/>
              <a:t> value need not be exact. What is required though is that there is a clear justification of values. It should be clear to differentiate between a 0.5, 0.1 and 0.99 utility score simply based on graphical inspection of the value function and the input range.</a:t>
            </a:r>
          </a:p>
          <a:p>
            <a:endParaRPr lang="en-GB" baseline="0" dirty="0"/>
          </a:p>
          <a:p>
            <a:r>
              <a:rPr lang="en-GB" baseline="0" dirty="0"/>
              <a:t>Obviously, much more mathematically sound mappings can be done. But, keep the </a:t>
            </a:r>
            <a:r>
              <a:rPr lang="en-GB" baseline="0" dirty="0" err="1"/>
              <a:t>pareto</a:t>
            </a:r>
            <a:r>
              <a:rPr lang="en-GB" baseline="0" dirty="0"/>
              <a:t> principle in mind…</a:t>
            </a:r>
            <a:endParaRPr lang="en-GB" dirty="0"/>
          </a:p>
        </p:txBody>
      </p:sp>
      <p:sp>
        <p:nvSpPr>
          <p:cNvPr id="4" name="Slide Number Placeholder 3"/>
          <p:cNvSpPr>
            <a:spLocks noGrp="1"/>
          </p:cNvSpPr>
          <p:nvPr>
            <p:ph type="sldNum" sz="quarter" idx="10"/>
          </p:nvPr>
        </p:nvSpPr>
        <p:spPr/>
        <p:txBody>
          <a:bodyPr/>
          <a:lstStyle/>
          <a:p>
            <a:fld id="{ED0C0789-A8EB-40D1-B232-108382DA485E}" type="slidenum">
              <a:rPr lang="en-GB" smtClean="0"/>
              <a:t>16</a:t>
            </a:fld>
            <a:endParaRPr lang="en-GB"/>
          </a:p>
        </p:txBody>
      </p:sp>
    </p:spTree>
    <p:extLst>
      <p:ext uri="{BB962C8B-B14F-4D97-AF65-F5344CB8AC3E}">
        <p14:creationId xmlns:p14="http://schemas.microsoft.com/office/powerpoint/2010/main" val="4072312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For each of these alternatives some trade-offs can de done.</a:t>
            </a:r>
          </a:p>
        </p:txBody>
      </p:sp>
      <p:sp>
        <p:nvSpPr>
          <p:cNvPr id="4" name="Slide Number Placeholder 3"/>
          <p:cNvSpPr>
            <a:spLocks noGrp="1"/>
          </p:cNvSpPr>
          <p:nvPr>
            <p:ph type="sldNum" sz="quarter" idx="5"/>
          </p:nvPr>
        </p:nvSpPr>
        <p:spPr/>
        <p:txBody>
          <a:bodyPr/>
          <a:lstStyle/>
          <a:p>
            <a:fld id="{ED0C0789-A8EB-40D1-B232-108382DA485E}" type="slidenum">
              <a:rPr lang="en-GB" smtClean="0"/>
              <a:t>23</a:t>
            </a:fld>
            <a:endParaRPr lang="en-GB"/>
          </a:p>
        </p:txBody>
      </p:sp>
    </p:spTree>
    <p:extLst>
      <p:ext uri="{BB962C8B-B14F-4D97-AF65-F5344CB8AC3E}">
        <p14:creationId xmlns:p14="http://schemas.microsoft.com/office/powerpoint/2010/main" val="397183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ED0C0789-A8EB-40D1-B232-108382DA485E}" type="slidenum">
              <a:rPr lang="en-GB" smtClean="0"/>
              <a:t>24</a:t>
            </a:fld>
            <a:endParaRPr lang="en-GB"/>
          </a:p>
        </p:txBody>
      </p:sp>
    </p:spTree>
    <p:extLst>
      <p:ext uri="{BB962C8B-B14F-4D97-AF65-F5344CB8AC3E}">
        <p14:creationId xmlns:p14="http://schemas.microsoft.com/office/powerpoint/2010/main" val="4070807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ED0C0789-A8EB-40D1-B232-108382DA485E}" type="slidenum">
              <a:rPr lang="en-GB" smtClean="0"/>
              <a:t>26</a:t>
            </a:fld>
            <a:endParaRPr lang="en-GB"/>
          </a:p>
        </p:txBody>
      </p:sp>
    </p:spTree>
    <p:extLst>
      <p:ext uri="{BB962C8B-B14F-4D97-AF65-F5344CB8AC3E}">
        <p14:creationId xmlns:p14="http://schemas.microsoft.com/office/powerpoint/2010/main" val="2023141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ED0C0789-A8EB-40D1-B232-108382DA485E}" type="slidenum">
              <a:rPr lang="en-GB" smtClean="0"/>
              <a:t>27</a:t>
            </a:fld>
            <a:endParaRPr lang="en-GB"/>
          </a:p>
        </p:txBody>
      </p:sp>
    </p:spTree>
    <p:extLst>
      <p:ext uri="{BB962C8B-B14F-4D97-AF65-F5344CB8AC3E}">
        <p14:creationId xmlns:p14="http://schemas.microsoft.com/office/powerpoint/2010/main" val="4210002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B0936878-2872-4953-9D86-917110BDE2A6}" type="datetimeFigureOut">
              <a:rPr lang="en-GB" smtClean="0"/>
              <a:t>12/11/2025</a:t>
            </a:fld>
            <a:endParaRPr lang="en-GB"/>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BCC430AC-D4D3-4D4A-B912-40E81DD30505}"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98789599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936878-2872-4953-9D86-917110BDE2A6}" type="datetimeFigureOut">
              <a:rPr lang="en-GB" smtClean="0"/>
              <a:t>12/11/2025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C430AC-D4D3-4D4A-B912-40E81DD30505}" type="slidenum">
              <a:rPr lang="en-GB" smtClean="0"/>
              <a:t>‹#›</a:t>
            </a:fld>
            <a:endParaRPr lang="en-GB"/>
          </a:p>
        </p:txBody>
      </p:sp>
    </p:spTree>
    <p:extLst>
      <p:ext uri="{BB962C8B-B14F-4D97-AF65-F5344CB8AC3E}">
        <p14:creationId xmlns:p14="http://schemas.microsoft.com/office/powerpoint/2010/main" val="944086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936878-2872-4953-9D86-917110BDE2A6}" type="datetimeFigureOut">
              <a:rPr lang="en-GB" smtClean="0"/>
              <a:t>12/11/2025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C430AC-D4D3-4D4A-B912-40E81DD30505}"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07017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936878-2872-4953-9D86-917110BDE2A6}" type="datetimeFigureOut">
              <a:rPr lang="en-GB" smtClean="0"/>
              <a:t>12/11/2025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C430AC-D4D3-4D4A-B912-40E81DD30505}" type="slidenum">
              <a:rPr lang="en-GB" smtClean="0"/>
              <a:t>‹#›</a:t>
            </a:fld>
            <a:endParaRPr lang="en-GB"/>
          </a:p>
        </p:txBody>
      </p:sp>
    </p:spTree>
    <p:extLst>
      <p:ext uri="{BB962C8B-B14F-4D97-AF65-F5344CB8AC3E}">
        <p14:creationId xmlns:p14="http://schemas.microsoft.com/office/powerpoint/2010/main" val="2512853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936878-2872-4953-9D86-917110BDE2A6}" type="datetimeFigureOut">
              <a:rPr lang="en-GB" smtClean="0"/>
              <a:t>12/11/2025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CC430AC-D4D3-4D4A-B912-40E81DD30505}" type="slidenum">
              <a:rPr lang="en-GB" smtClean="0"/>
              <a:t>‹#›</a:t>
            </a:fld>
            <a:endParaRPr lang="en-GB"/>
          </a:p>
        </p:txBody>
      </p:sp>
    </p:spTree>
    <p:extLst>
      <p:ext uri="{BB962C8B-B14F-4D97-AF65-F5344CB8AC3E}">
        <p14:creationId xmlns:p14="http://schemas.microsoft.com/office/powerpoint/2010/main" val="2657488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936878-2872-4953-9D86-917110BDE2A6}" type="datetimeFigureOut">
              <a:rPr lang="en-GB" smtClean="0"/>
              <a:t>12/11/2025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CC430AC-D4D3-4D4A-B912-40E81DD30505}" type="slidenum">
              <a:rPr lang="en-GB" smtClean="0"/>
              <a:t>‹#›</a:t>
            </a:fld>
            <a:endParaRPr lang="en-GB"/>
          </a:p>
        </p:txBody>
      </p:sp>
    </p:spTree>
    <p:extLst>
      <p:ext uri="{BB962C8B-B14F-4D97-AF65-F5344CB8AC3E}">
        <p14:creationId xmlns:p14="http://schemas.microsoft.com/office/powerpoint/2010/main" val="3351305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936878-2872-4953-9D86-917110BDE2A6}" type="datetimeFigureOut">
              <a:rPr lang="en-GB" smtClean="0"/>
              <a:t>12/11/2025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CC430AC-D4D3-4D4A-B912-40E81DD30505}" type="slidenum">
              <a:rPr lang="en-GB" smtClean="0"/>
              <a:t>‹#›</a:t>
            </a:fld>
            <a:endParaRPr lang="en-GB"/>
          </a:p>
        </p:txBody>
      </p:sp>
    </p:spTree>
    <p:extLst>
      <p:ext uri="{BB962C8B-B14F-4D97-AF65-F5344CB8AC3E}">
        <p14:creationId xmlns:p14="http://schemas.microsoft.com/office/powerpoint/2010/main" val="122005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936878-2872-4953-9D86-917110BDE2A6}" type="datetimeFigureOut">
              <a:rPr lang="en-GB" smtClean="0"/>
              <a:t>12/11/2025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C430AC-D4D3-4D4A-B912-40E81DD30505}" type="slidenum">
              <a:rPr lang="en-GB" smtClean="0"/>
              <a:t>‹#›</a:t>
            </a:fld>
            <a:endParaRPr lang="en-GB"/>
          </a:p>
        </p:txBody>
      </p:sp>
    </p:spTree>
    <p:extLst>
      <p:ext uri="{BB962C8B-B14F-4D97-AF65-F5344CB8AC3E}">
        <p14:creationId xmlns:p14="http://schemas.microsoft.com/office/powerpoint/2010/main" val="3881579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936878-2872-4953-9D86-917110BDE2A6}" type="datetimeFigureOut">
              <a:rPr lang="en-GB" smtClean="0"/>
              <a:t>12/11/2025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C430AC-D4D3-4D4A-B912-40E81DD30505}" type="slidenum">
              <a:rPr lang="en-GB" smtClean="0"/>
              <a:t>‹#›</a:t>
            </a:fld>
            <a:endParaRPr lang="en-GB"/>
          </a:p>
        </p:txBody>
      </p:sp>
    </p:spTree>
    <p:extLst>
      <p:ext uri="{BB962C8B-B14F-4D97-AF65-F5344CB8AC3E}">
        <p14:creationId xmlns:p14="http://schemas.microsoft.com/office/powerpoint/2010/main" val="1197721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936878-2872-4953-9D86-917110BDE2A6}" type="datetimeFigureOut">
              <a:rPr lang="en-GB" smtClean="0"/>
              <a:t>12/11/2025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C430AC-D4D3-4D4A-B912-40E81DD30505}" type="slidenum">
              <a:rPr lang="en-GB" smtClean="0"/>
              <a:t>‹#›</a:t>
            </a:fld>
            <a:endParaRPr lang="en-GB"/>
          </a:p>
        </p:txBody>
      </p:sp>
    </p:spTree>
    <p:extLst>
      <p:ext uri="{BB962C8B-B14F-4D97-AF65-F5344CB8AC3E}">
        <p14:creationId xmlns:p14="http://schemas.microsoft.com/office/powerpoint/2010/main" val="484663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936878-2872-4953-9D86-917110BDE2A6}" type="datetimeFigureOut">
              <a:rPr lang="en-GB" smtClean="0"/>
              <a:t>12/11/2025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C430AC-D4D3-4D4A-B912-40E81DD30505}" type="slidenum">
              <a:rPr lang="en-GB" smtClean="0"/>
              <a:t>‹#›</a:t>
            </a:fld>
            <a:endParaRPr lang="en-GB"/>
          </a:p>
        </p:txBody>
      </p:sp>
    </p:spTree>
    <p:extLst>
      <p:ext uri="{BB962C8B-B14F-4D97-AF65-F5344CB8AC3E}">
        <p14:creationId xmlns:p14="http://schemas.microsoft.com/office/powerpoint/2010/main" val="1126950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B0936878-2872-4953-9D86-917110BDE2A6}" type="datetimeFigureOut">
              <a:rPr lang="en-GB" smtClean="0"/>
              <a:t>12/11/2025</a:t>
            </a:fld>
            <a:endParaRPr lang="en-GB"/>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GB"/>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BCC430AC-D4D3-4D4A-B912-40E81DD30505}" type="slidenum">
              <a:rPr lang="en-GB" smtClean="0"/>
              <a:t>‹#›</a:t>
            </a:fld>
            <a:endParaRPr lang="en-GB"/>
          </a:p>
        </p:txBody>
      </p:sp>
    </p:spTree>
    <p:extLst>
      <p:ext uri="{BB962C8B-B14F-4D97-AF65-F5344CB8AC3E}">
        <p14:creationId xmlns:p14="http://schemas.microsoft.com/office/powerpoint/2010/main" val="10150798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gi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Alternative Analysis</a:t>
            </a:r>
          </a:p>
        </p:txBody>
      </p:sp>
      <p:sp>
        <p:nvSpPr>
          <p:cNvPr id="3" name="Subtitle 2"/>
          <p:cNvSpPr>
            <a:spLocks noGrp="1"/>
          </p:cNvSpPr>
          <p:nvPr>
            <p:ph type="subTitle" idx="1"/>
          </p:nvPr>
        </p:nvSpPr>
        <p:spPr/>
        <p:txBody>
          <a:bodyPr/>
          <a:lstStyle/>
          <a:p>
            <a:r>
              <a:rPr lang="en-GB" dirty="0"/>
              <a:t>The Art and Science of Guessing…</a:t>
            </a:r>
          </a:p>
        </p:txBody>
      </p:sp>
    </p:spTree>
    <p:extLst>
      <p:ext uri="{BB962C8B-B14F-4D97-AF65-F5344CB8AC3E}">
        <p14:creationId xmlns:p14="http://schemas.microsoft.com/office/powerpoint/2010/main" val="3499241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evaluate alternatives</a:t>
            </a:r>
          </a:p>
        </p:txBody>
      </p:sp>
      <p:sp>
        <p:nvSpPr>
          <p:cNvPr id="3" name="Content Placeholder 2"/>
          <p:cNvSpPr>
            <a:spLocks noGrp="1"/>
          </p:cNvSpPr>
          <p:nvPr>
            <p:ph idx="1"/>
          </p:nvPr>
        </p:nvSpPr>
        <p:spPr/>
        <p:txBody>
          <a:bodyPr/>
          <a:lstStyle/>
          <a:p>
            <a:r>
              <a:rPr lang="en-GB" dirty="0"/>
              <a:t>Inherent in any process</a:t>
            </a:r>
          </a:p>
          <a:p>
            <a:pPr lvl="1"/>
            <a:r>
              <a:rPr lang="en-GB" dirty="0"/>
              <a:t>What to have for breakfast</a:t>
            </a:r>
          </a:p>
          <a:p>
            <a:pPr marL="274320" lvl="1" indent="0">
              <a:buNone/>
            </a:pPr>
            <a:endParaRPr lang="en-GB" dirty="0"/>
          </a:p>
          <a:p>
            <a:r>
              <a:rPr lang="en-GB" dirty="0"/>
              <a:t>Why a formal process?</a:t>
            </a:r>
          </a:p>
          <a:p>
            <a:pPr lvl="1"/>
            <a:r>
              <a:rPr lang="en-GB" dirty="0"/>
              <a:t>Remove subjectivity</a:t>
            </a:r>
          </a:p>
          <a:p>
            <a:pPr lvl="1"/>
            <a:r>
              <a:rPr lang="en-GB" dirty="0"/>
              <a:t>Document decisions</a:t>
            </a:r>
          </a:p>
        </p:txBody>
      </p:sp>
      <p:pic>
        <p:nvPicPr>
          <p:cNvPr id="1028" name="Picture 4" descr="https://www.makro.co.za/Images/Products/Large/MIN_200353_EAA.jpg?v=2016060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6135" y="4861576"/>
            <a:ext cx="1649373" cy="169456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bacon and egg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060" y="4980316"/>
            <a:ext cx="2361536" cy="157582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4721320" y="1703912"/>
            <a:ext cx="6233192" cy="4727337"/>
          </a:xfrm>
          <a:prstGeom prst="rect">
            <a:avLst/>
          </a:prstGeom>
        </p:spPr>
      </p:pic>
      <p:pic>
        <p:nvPicPr>
          <p:cNvPr id="6146" name="Picture 2" descr="Image result for question mark"/>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5503" r="23499"/>
          <a:stretch/>
        </p:blipFill>
        <p:spPr bwMode="auto">
          <a:xfrm>
            <a:off x="2395186" y="4171744"/>
            <a:ext cx="1340152" cy="2686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3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fade">
                                      <p:cBhvr>
                                        <p:cTn id="7" dur="1000"/>
                                        <p:tgtEl>
                                          <p:spTgt spid="1030"/>
                                        </p:tgtEl>
                                      </p:cBhvr>
                                    </p:animEffect>
                                    <p:anim calcmode="lin" valueType="num">
                                      <p:cBhvr>
                                        <p:cTn id="8" dur="1000" fill="hold"/>
                                        <p:tgtEl>
                                          <p:spTgt spid="1030"/>
                                        </p:tgtEl>
                                        <p:attrNameLst>
                                          <p:attrName>ppt_x</p:attrName>
                                        </p:attrNameLst>
                                      </p:cBhvr>
                                      <p:tavLst>
                                        <p:tav tm="0">
                                          <p:val>
                                            <p:strVal val="#ppt_x"/>
                                          </p:val>
                                        </p:tav>
                                        <p:tav tm="100000">
                                          <p:val>
                                            <p:strVal val="#ppt_x"/>
                                          </p:val>
                                        </p:tav>
                                      </p:tavLst>
                                    </p:anim>
                                    <p:anim calcmode="lin" valueType="num">
                                      <p:cBhvr>
                                        <p:cTn id="9" dur="1000" fill="hold"/>
                                        <p:tgtEl>
                                          <p:spTgt spid="103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1000"/>
                                        <p:tgtEl>
                                          <p:spTgt spid="1028"/>
                                        </p:tgtEl>
                                      </p:cBhvr>
                                    </p:animEffect>
                                    <p:anim calcmode="lin" valueType="num">
                                      <p:cBhvr>
                                        <p:cTn id="13" dur="1000" fill="hold"/>
                                        <p:tgtEl>
                                          <p:spTgt spid="1028"/>
                                        </p:tgtEl>
                                        <p:attrNameLst>
                                          <p:attrName>ppt_x</p:attrName>
                                        </p:attrNameLst>
                                      </p:cBhvr>
                                      <p:tavLst>
                                        <p:tav tm="0">
                                          <p:val>
                                            <p:strVal val="#ppt_x"/>
                                          </p:val>
                                        </p:tav>
                                        <p:tav tm="100000">
                                          <p:val>
                                            <p:strVal val="#ppt_x"/>
                                          </p:val>
                                        </p:tav>
                                      </p:tavLst>
                                    </p:anim>
                                    <p:anim calcmode="lin" valueType="num">
                                      <p:cBhvr>
                                        <p:cTn id="14" dur="1000" fill="hold"/>
                                        <p:tgtEl>
                                          <p:spTgt spid="1028"/>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6" presetClass="entr" presetSubtype="0" fill="hold" nodeType="afterEffect">
                                  <p:stCondLst>
                                    <p:cond delay="0"/>
                                  </p:stCondLst>
                                  <p:childTnLst>
                                    <p:set>
                                      <p:cBhvr>
                                        <p:cTn id="17" dur="1" fill="hold">
                                          <p:stCondLst>
                                            <p:cond delay="0"/>
                                          </p:stCondLst>
                                        </p:cTn>
                                        <p:tgtEl>
                                          <p:spTgt spid="6146"/>
                                        </p:tgtEl>
                                        <p:attrNameLst>
                                          <p:attrName>style.visibility</p:attrName>
                                        </p:attrNameLst>
                                      </p:cBhvr>
                                      <p:to>
                                        <p:strVal val="visible"/>
                                      </p:to>
                                    </p:set>
                                    <p:animEffect transition="in" filter="wipe(down)">
                                      <p:cBhvr>
                                        <p:cTn id="18" dur="580">
                                          <p:stCondLst>
                                            <p:cond delay="0"/>
                                          </p:stCondLst>
                                        </p:cTn>
                                        <p:tgtEl>
                                          <p:spTgt spid="6146"/>
                                        </p:tgtEl>
                                      </p:cBhvr>
                                    </p:animEffect>
                                    <p:anim calcmode="lin" valueType="num">
                                      <p:cBhvr>
                                        <p:cTn id="19" dur="1822" tmFilter="0,0; 0.14,0.36; 0.43,0.73; 0.71,0.91; 1.0,1.0">
                                          <p:stCondLst>
                                            <p:cond delay="0"/>
                                          </p:stCondLst>
                                        </p:cTn>
                                        <p:tgtEl>
                                          <p:spTgt spid="6146"/>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6146"/>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6146"/>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6146"/>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6146"/>
                                        </p:tgtEl>
                                        <p:attrNameLst>
                                          <p:attrName>ppt_y</p:attrName>
                                        </p:attrNameLst>
                                      </p:cBhvr>
                                      <p:tavLst>
                                        <p:tav tm="0" fmla="#ppt_y-sin(pi*$)/81">
                                          <p:val>
                                            <p:fltVal val="0"/>
                                          </p:val>
                                        </p:tav>
                                        <p:tav tm="100000">
                                          <p:val>
                                            <p:fltVal val="1"/>
                                          </p:val>
                                        </p:tav>
                                      </p:tavLst>
                                    </p:anim>
                                    <p:animScale>
                                      <p:cBhvr>
                                        <p:cTn id="24" dur="26">
                                          <p:stCondLst>
                                            <p:cond delay="650"/>
                                          </p:stCondLst>
                                        </p:cTn>
                                        <p:tgtEl>
                                          <p:spTgt spid="6146"/>
                                        </p:tgtEl>
                                      </p:cBhvr>
                                      <p:to x="100000" y="60000"/>
                                    </p:animScale>
                                    <p:animScale>
                                      <p:cBhvr>
                                        <p:cTn id="25" dur="166" decel="50000">
                                          <p:stCondLst>
                                            <p:cond delay="676"/>
                                          </p:stCondLst>
                                        </p:cTn>
                                        <p:tgtEl>
                                          <p:spTgt spid="6146"/>
                                        </p:tgtEl>
                                      </p:cBhvr>
                                      <p:to x="100000" y="100000"/>
                                    </p:animScale>
                                    <p:animScale>
                                      <p:cBhvr>
                                        <p:cTn id="26" dur="26">
                                          <p:stCondLst>
                                            <p:cond delay="1312"/>
                                          </p:stCondLst>
                                        </p:cTn>
                                        <p:tgtEl>
                                          <p:spTgt spid="6146"/>
                                        </p:tgtEl>
                                      </p:cBhvr>
                                      <p:to x="100000" y="80000"/>
                                    </p:animScale>
                                    <p:animScale>
                                      <p:cBhvr>
                                        <p:cTn id="27" dur="166" decel="50000">
                                          <p:stCondLst>
                                            <p:cond delay="1338"/>
                                          </p:stCondLst>
                                        </p:cTn>
                                        <p:tgtEl>
                                          <p:spTgt spid="6146"/>
                                        </p:tgtEl>
                                      </p:cBhvr>
                                      <p:to x="100000" y="100000"/>
                                    </p:animScale>
                                    <p:animScale>
                                      <p:cBhvr>
                                        <p:cTn id="28" dur="26">
                                          <p:stCondLst>
                                            <p:cond delay="1642"/>
                                          </p:stCondLst>
                                        </p:cTn>
                                        <p:tgtEl>
                                          <p:spTgt spid="6146"/>
                                        </p:tgtEl>
                                      </p:cBhvr>
                                      <p:to x="100000" y="90000"/>
                                    </p:animScale>
                                    <p:animScale>
                                      <p:cBhvr>
                                        <p:cTn id="29" dur="166" decel="50000">
                                          <p:stCondLst>
                                            <p:cond delay="1668"/>
                                          </p:stCondLst>
                                        </p:cTn>
                                        <p:tgtEl>
                                          <p:spTgt spid="6146"/>
                                        </p:tgtEl>
                                      </p:cBhvr>
                                      <p:to x="100000" y="100000"/>
                                    </p:animScale>
                                    <p:animScale>
                                      <p:cBhvr>
                                        <p:cTn id="30" dur="26">
                                          <p:stCondLst>
                                            <p:cond delay="1808"/>
                                          </p:stCondLst>
                                        </p:cTn>
                                        <p:tgtEl>
                                          <p:spTgt spid="6146"/>
                                        </p:tgtEl>
                                      </p:cBhvr>
                                      <p:to x="100000" y="95000"/>
                                    </p:animScale>
                                    <p:animScale>
                                      <p:cBhvr>
                                        <p:cTn id="31" dur="166" decel="50000">
                                          <p:stCondLst>
                                            <p:cond delay="1834"/>
                                          </p:stCondLst>
                                        </p:cTn>
                                        <p:tgtEl>
                                          <p:spTgt spid="6146"/>
                                        </p:tgtEl>
                                      </p:cBhvr>
                                      <p:to x="100000" y="100000"/>
                                    </p:animScale>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childTnLst>
                                </p:cTn>
                              </p:par>
                            </p:childTnLst>
                          </p:cTn>
                        </p:par>
                        <p:par>
                          <p:cTn id="40" fill="hold">
                            <p:stCondLst>
                              <p:cond delay="0"/>
                            </p:stCondLst>
                            <p:childTnLst>
                              <p:par>
                                <p:cTn id="41" presetID="10" presetClass="entr" presetSubtype="0" fill="hold" nodeType="after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Lesson overview</a:t>
            </a:r>
          </a:p>
        </p:txBody>
      </p:sp>
      <p:sp>
        <p:nvSpPr>
          <p:cNvPr id="3" name="Content Placeholder 2"/>
          <p:cNvSpPr>
            <a:spLocks noGrp="1"/>
          </p:cNvSpPr>
          <p:nvPr>
            <p:ph idx="1"/>
          </p:nvPr>
        </p:nvSpPr>
        <p:spPr/>
        <p:txBody>
          <a:bodyPr/>
          <a:lstStyle/>
          <a:p>
            <a:r>
              <a:rPr lang="en-GB" dirty="0"/>
              <a:t>The formal process of decision making</a:t>
            </a:r>
          </a:p>
          <a:p>
            <a:r>
              <a:rPr lang="en-GB" dirty="0"/>
              <a:t>Aspects to consider and their importance</a:t>
            </a:r>
          </a:p>
          <a:p>
            <a:r>
              <a:rPr lang="en-GB" dirty="0"/>
              <a:t>A method for making decisions</a:t>
            </a:r>
          </a:p>
          <a:p>
            <a:r>
              <a:rPr lang="en-GB" dirty="0"/>
              <a:t>Typical example</a:t>
            </a:r>
          </a:p>
          <a:p>
            <a:r>
              <a:rPr lang="en-GB" dirty="0"/>
              <a:t>Wrap-up</a:t>
            </a:r>
          </a:p>
        </p:txBody>
      </p:sp>
    </p:spTree>
    <p:extLst>
      <p:ext uri="{BB962C8B-B14F-4D97-AF65-F5344CB8AC3E}">
        <p14:creationId xmlns:p14="http://schemas.microsoft.com/office/powerpoint/2010/main" val="4201229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Systems Engineering </a:t>
            </a:r>
            <a:br>
              <a:rPr lang="en-GB" dirty="0"/>
            </a:br>
            <a:r>
              <a:rPr lang="en-GB" dirty="0"/>
              <a:t>Body-of-Knowledge (SEBOK)	</a:t>
            </a:r>
          </a:p>
        </p:txBody>
      </p:sp>
      <p:sp>
        <p:nvSpPr>
          <p:cNvPr id="3" name="Content Placeholder 2"/>
          <p:cNvSpPr>
            <a:spLocks noGrp="1"/>
          </p:cNvSpPr>
          <p:nvPr>
            <p:ph idx="1"/>
          </p:nvPr>
        </p:nvSpPr>
        <p:spPr/>
        <p:txBody>
          <a:bodyPr/>
          <a:lstStyle/>
          <a:p>
            <a:r>
              <a:rPr lang="en-GB" dirty="0"/>
              <a:t>Alternatives must be compared across</a:t>
            </a:r>
          </a:p>
          <a:p>
            <a:pPr lvl="1"/>
            <a:r>
              <a:rPr lang="en-GB" dirty="0"/>
              <a:t>Technical parameters</a:t>
            </a:r>
          </a:p>
          <a:p>
            <a:pPr lvl="1"/>
            <a:r>
              <a:rPr lang="en-GB" dirty="0"/>
              <a:t>Financial aspects</a:t>
            </a:r>
          </a:p>
          <a:p>
            <a:pPr lvl="1"/>
            <a:r>
              <a:rPr lang="en-GB" dirty="0"/>
              <a:t>Risk</a:t>
            </a:r>
          </a:p>
        </p:txBody>
      </p:sp>
      <p:pic>
        <p:nvPicPr>
          <p:cNvPr id="4" name="Picture 3"/>
          <p:cNvPicPr>
            <a:picLocks noChangeAspect="1"/>
          </p:cNvPicPr>
          <p:nvPr/>
        </p:nvPicPr>
        <p:blipFill>
          <a:blip r:embed="rId2"/>
          <a:stretch>
            <a:fillRect/>
          </a:stretch>
        </p:blipFill>
        <p:spPr>
          <a:xfrm>
            <a:off x="7232332" y="2200275"/>
            <a:ext cx="4067175" cy="4657725"/>
          </a:xfrm>
          <a:prstGeom prst="rect">
            <a:avLst/>
          </a:prstGeom>
        </p:spPr>
      </p:pic>
      <p:pic>
        <p:nvPicPr>
          <p:cNvPr id="2050" name="Picture 2" descr="Image result for ris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07" y="4361197"/>
            <a:ext cx="4703808" cy="215787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4"/>
          <a:stretch>
            <a:fillRect/>
          </a:stretch>
        </p:blipFill>
        <p:spPr>
          <a:xfrm>
            <a:off x="4310742" y="2722892"/>
            <a:ext cx="3097529" cy="3001653"/>
          </a:xfrm>
          <a:prstGeom prst="rect">
            <a:avLst/>
          </a:prstGeom>
        </p:spPr>
      </p:pic>
    </p:spTree>
    <p:extLst>
      <p:ext uri="{BB962C8B-B14F-4D97-AF65-F5344CB8AC3E}">
        <p14:creationId xmlns:p14="http://schemas.microsoft.com/office/powerpoint/2010/main" val="388706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0" presetClass="entr" presetSubtype="0" fill="hold" nodeType="withEffect">
                                  <p:stCondLst>
                                    <p:cond delay="0"/>
                                  </p:stCondLst>
                                  <p:childTnLst>
                                    <p:set>
                                      <p:cBhvr>
                                        <p:cTn id="22" dur="1" fill="hold">
                                          <p:stCondLst>
                                            <p:cond delay="0"/>
                                          </p:stCondLst>
                                        </p:cTn>
                                        <p:tgtEl>
                                          <p:spTgt spid="2050"/>
                                        </p:tgtEl>
                                        <p:attrNameLst>
                                          <p:attrName>style.visibility</p:attrName>
                                        </p:attrNameLst>
                                      </p:cBhvr>
                                      <p:to>
                                        <p:strVal val="visible"/>
                                      </p:to>
                                    </p:set>
                                    <p:animEffect transition="in" filter="fade">
                                      <p:cBhvr>
                                        <p:cTn id="23"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MOEs and MOPs</a:t>
            </a:r>
          </a:p>
        </p:txBody>
      </p:sp>
      <p:sp>
        <p:nvSpPr>
          <p:cNvPr id="5" name="Text Placeholder 4"/>
          <p:cNvSpPr>
            <a:spLocks noGrp="1"/>
          </p:cNvSpPr>
          <p:nvPr>
            <p:ph type="body" idx="1"/>
          </p:nvPr>
        </p:nvSpPr>
        <p:spPr/>
        <p:txBody>
          <a:bodyPr/>
          <a:lstStyle/>
          <a:p>
            <a:r>
              <a:rPr lang="en-GB" dirty="0"/>
              <a:t>Measures of Effectiveness (MOEs)</a:t>
            </a:r>
          </a:p>
        </p:txBody>
      </p:sp>
      <p:sp>
        <p:nvSpPr>
          <p:cNvPr id="6" name="Content Placeholder 5"/>
          <p:cNvSpPr>
            <a:spLocks noGrp="1"/>
          </p:cNvSpPr>
          <p:nvPr>
            <p:ph sz="half" idx="2"/>
          </p:nvPr>
        </p:nvSpPr>
        <p:spPr/>
        <p:txBody>
          <a:bodyPr/>
          <a:lstStyle/>
          <a:p>
            <a:r>
              <a:rPr lang="en-GB" dirty="0"/>
              <a:t>Degree to which system achieves objective</a:t>
            </a:r>
          </a:p>
          <a:p>
            <a:r>
              <a:rPr lang="en-GB" dirty="0"/>
              <a:t>Simple to state</a:t>
            </a:r>
          </a:p>
          <a:p>
            <a:r>
              <a:rPr lang="en-GB" dirty="0"/>
              <a:t>Qualifiable (sometimes Measurable)</a:t>
            </a:r>
          </a:p>
          <a:p>
            <a:endParaRPr lang="en-GB" dirty="0"/>
          </a:p>
          <a:p>
            <a:pPr marL="0" indent="0">
              <a:buNone/>
            </a:pPr>
            <a:r>
              <a:rPr lang="en-GB" dirty="0"/>
              <a:t>Reliability, Manufacturability, Maintainability</a:t>
            </a:r>
          </a:p>
          <a:p>
            <a:pPr marL="0" indent="0">
              <a:buNone/>
            </a:pPr>
            <a:endParaRPr lang="en-GB" dirty="0"/>
          </a:p>
        </p:txBody>
      </p:sp>
      <p:sp>
        <p:nvSpPr>
          <p:cNvPr id="7" name="Text Placeholder 6"/>
          <p:cNvSpPr>
            <a:spLocks noGrp="1"/>
          </p:cNvSpPr>
          <p:nvPr>
            <p:ph type="body" sz="quarter" idx="3"/>
          </p:nvPr>
        </p:nvSpPr>
        <p:spPr/>
        <p:txBody>
          <a:bodyPr/>
          <a:lstStyle/>
          <a:p>
            <a:r>
              <a:rPr lang="en-GB" dirty="0"/>
              <a:t>Measures of Performance (MOPs)</a:t>
            </a:r>
          </a:p>
        </p:txBody>
      </p:sp>
      <p:sp>
        <p:nvSpPr>
          <p:cNvPr id="8" name="Content Placeholder 7"/>
          <p:cNvSpPr>
            <a:spLocks noGrp="1"/>
          </p:cNvSpPr>
          <p:nvPr>
            <p:ph sz="quarter" idx="4"/>
          </p:nvPr>
        </p:nvSpPr>
        <p:spPr/>
        <p:txBody>
          <a:bodyPr/>
          <a:lstStyle/>
          <a:p>
            <a:r>
              <a:rPr lang="en-GB" dirty="0"/>
              <a:t>Technical parameters</a:t>
            </a:r>
          </a:p>
          <a:p>
            <a:r>
              <a:rPr lang="en-GB" dirty="0"/>
              <a:t>Quantifiable (always measurable)</a:t>
            </a:r>
          </a:p>
          <a:p>
            <a:endParaRPr lang="en-GB" dirty="0"/>
          </a:p>
          <a:p>
            <a:pPr marL="0" indent="0">
              <a:buNone/>
            </a:pPr>
            <a:endParaRPr lang="en-GB" dirty="0"/>
          </a:p>
          <a:p>
            <a:pPr marL="0" indent="0">
              <a:buNone/>
            </a:pPr>
            <a:r>
              <a:rPr lang="en-GB" dirty="0"/>
              <a:t>Range, speed, weight, size, resolution</a:t>
            </a:r>
          </a:p>
        </p:txBody>
      </p:sp>
      <p:sp>
        <p:nvSpPr>
          <p:cNvPr id="9" name="TextBox 8"/>
          <p:cNvSpPr txBox="1"/>
          <p:nvPr/>
        </p:nvSpPr>
        <p:spPr>
          <a:xfrm>
            <a:off x="3744686" y="6172200"/>
            <a:ext cx="3615092" cy="369332"/>
          </a:xfrm>
          <a:prstGeom prst="rect">
            <a:avLst/>
          </a:prstGeom>
          <a:noFill/>
        </p:spPr>
        <p:txBody>
          <a:bodyPr wrap="none" rtlCol="0">
            <a:spAutoFit/>
          </a:bodyPr>
          <a:lstStyle/>
          <a:p>
            <a:r>
              <a:rPr lang="en-GB" dirty="0">
                <a:solidFill>
                  <a:srgbClr val="FF0000"/>
                </a:solidFill>
              </a:rPr>
              <a:t>Parameters used to “keep score”</a:t>
            </a:r>
          </a:p>
        </p:txBody>
      </p:sp>
      <p:cxnSp>
        <p:nvCxnSpPr>
          <p:cNvPr id="11" name="Straight Arrow Connector 10"/>
          <p:cNvCxnSpPr/>
          <p:nvPr/>
        </p:nvCxnSpPr>
        <p:spPr>
          <a:xfrm flipH="1" flipV="1">
            <a:off x="3683726" y="5355771"/>
            <a:ext cx="539931" cy="66185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6126480" y="5418347"/>
            <a:ext cx="613954" cy="60759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6989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xEl>
                                              <p:pRg st="0" end="0"/>
                                            </p:txEl>
                                          </p:spTgt>
                                        </p:tgtEl>
                                        <p:attrNameLst>
                                          <p:attrName>style.visibility</p:attrName>
                                        </p:attrNameLst>
                                      </p:cBhvr>
                                      <p:to>
                                        <p:strVal val="visible"/>
                                      </p:to>
                                    </p:set>
                                    <p:animEffect transition="in" filter="fade">
                                      <p:cBhvr>
                                        <p:cTn id="24" dur="500"/>
                                        <p:tgtEl>
                                          <p:spTgt spid="7">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down)">
                                      <p:cBhvr>
                                        <p:cTn id="39" dur="500"/>
                                        <p:tgtEl>
                                          <p:spTgt spid="9"/>
                                        </p:tgtEl>
                                      </p:cBhvr>
                                    </p:animEffect>
                                  </p:childTnLst>
                                </p:cTn>
                              </p:par>
                            </p:childTnLst>
                          </p:cTn>
                        </p:par>
                        <p:par>
                          <p:cTn id="40" fill="hold">
                            <p:stCondLst>
                              <p:cond delay="500"/>
                            </p:stCondLst>
                            <p:childTnLst>
                              <p:par>
                                <p:cTn id="41" presetID="22" presetClass="entr" presetSubtype="4" fill="hold"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down)">
                                      <p:cBhvr>
                                        <p:cTn id="43" dur="500"/>
                                        <p:tgtEl>
                                          <p:spTgt spid="11"/>
                                        </p:tgtEl>
                                      </p:cBhvr>
                                    </p:animEffect>
                                  </p:childTnLst>
                                </p:cTn>
                              </p:par>
                              <p:par>
                                <p:cTn id="44" presetID="22" presetClass="entr" presetSubtype="4"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down)">
                                      <p:cBhvr>
                                        <p:cTn id="4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Technical analysis</a:t>
            </a:r>
          </a:p>
        </p:txBody>
      </p:sp>
      <p:sp>
        <p:nvSpPr>
          <p:cNvPr id="3" name="Content Placeholder 2"/>
          <p:cNvSpPr>
            <a:spLocks noGrp="1"/>
          </p:cNvSpPr>
          <p:nvPr>
            <p:ph idx="1"/>
          </p:nvPr>
        </p:nvSpPr>
        <p:spPr/>
        <p:txBody>
          <a:bodyPr/>
          <a:lstStyle/>
          <a:p>
            <a:r>
              <a:rPr lang="en-GB" dirty="0"/>
              <a:t>Heavily dependent on models</a:t>
            </a:r>
          </a:p>
          <a:p>
            <a:pPr lvl="1"/>
            <a:r>
              <a:rPr lang="en-GB" dirty="0"/>
              <a:t>Static models – Flow diagrams</a:t>
            </a:r>
          </a:p>
          <a:p>
            <a:pPr lvl="1"/>
            <a:r>
              <a:rPr lang="en-GB" dirty="0"/>
              <a:t>Mathematical models – Spreadsheets and “back of the napkin”</a:t>
            </a:r>
          </a:p>
          <a:p>
            <a:pPr lvl="1"/>
            <a:r>
              <a:rPr lang="en-GB" dirty="0"/>
              <a:t>Engineering models – Simulation of circuits / physics</a:t>
            </a:r>
          </a:p>
          <a:p>
            <a:pPr lvl="1"/>
            <a:r>
              <a:rPr lang="en-GB" dirty="0"/>
              <a:t>Physical models – Experiments, prototypes, etc.</a:t>
            </a:r>
          </a:p>
        </p:txBody>
      </p:sp>
      <p:pic>
        <p:nvPicPr>
          <p:cNvPr id="4" name="Picture 3"/>
          <p:cNvPicPr>
            <a:picLocks noChangeAspect="1"/>
          </p:cNvPicPr>
          <p:nvPr/>
        </p:nvPicPr>
        <p:blipFill>
          <a:blip r:embed="rId3"/>
          <a:stretch>
            <a:fillRect/>
          </a:stretch>
        </p:blipFill>
        <p:spPr>
          <a:xfrm>
            <a:off x="8341314" y="1081053"/>
            <a:ext cx="2361233" cy="15718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p:cNvPicPr>
            <a:picLocks noChangeAspect="1"/>
          </p:cNvPicPr>
          <p:nvPr/>
        </p:nvPicPr>
        <p:blipFill>
          <a:blip r:embed="rId4"/>
          <a:stretch>
            <a:fillRect/>
          </a:stretch>
        </p:blipFill>
        <p:spPr>
          <a:xfrm>
            <a:off x="4772065" y="4488815"/>
            <a:ext cx="2162175" cy="1828800"/>
          </a:xfrm>
          <a:prstGeom prst="rect">
            <a:avLst/>
          </a:prstGeom>
        </p:spPr>
      </p:pic>
      <p:pic>
        <p:nvPicPr>
          <p:cNvPr id="8" name="Picture 7"/>
          <p:cNvPicPr>
            <a:picLocks noChangeAspect="1"/>
          </p:cNvPicPr>
          <p:nvPr/>
        </p:nvPicPr>
        <p:blipFill>
          <a:blip r:embed="rId5"/>
          <a:stretch>
            <a:fillRect/>
          </a:stretch>
        </p:blipFill>
        <p:spPr>
          <a:xfrm>
            <a:off x="555656" y="3911256"/>
            <a:ext cx="1613600" cy="1142211"/>
          </a:xfrm>
          <a:prstGeom prst="rect">
            <a:avLst/>
          </a:prstGeom>
        </p:spPr>
      </p:pic>
      <p:pic>
        <p:nvPicPr>
          <p:cNvPr id="7" name="Picture 6"/>
          <p:cNvPicPr>
            <a:picLocks noChangeAspect="1"/>
          </p:cNvPicPr>
          <p:nvPr/>
        </p:nvPicPr>
        <p:blipFill>
          <a:blip r:embed="rId6"/>
          <a:stretch>
            <a:fillRect/>
          </a:stretch>
        </p:blipFill>
        <p:spPr>
          <a:xfrm>
            <a:off x="1729190" y="4807448"/>
            <a:ext cx="1901561" cy="1372689"/>
          </a:xfrm>
          <a:prstGeom prst="rect">
            <a:avLst/>
          </a:prstGeom>
        </p:spPr>
      </p:pic>
      <p:sp>
        <p:nvSpPr>
          <p:cNvPr id="9" name="TextBox 8"/>
          <p:cNvSpPr txBox="1"/>
          <p:nvPr/>
        </p:nvSpPr>
        <p:spPr>
          <a:xfrm>
            <a:off x="8765954" y="2773090"/>
            <a:ext cx="1511952" cy="369332"/>
          </a:xfrm>
          <a:prstGeom prst="rect">
            <a:avLst/>
          </a:prstGeom>
          <a:noFill/>
        </p:spPr>
        <p:txBody>
          <a:bodyPr wrap="none" rtlCol="0">
            <a:spAutoFit/>
          </a:bodyPr>
          <a:lstStyle/>
          <a:p>
            <a:r>
              <a:rPr lang="en-GB" dirty="0"/>
              <a:t>Spreadsheet</a:t>
            </a:r>
          </a:p>
        </p:txBody>
      </p:sp>
      <p:sp>
        <p:nvSpPr>
          <p:cNvPr id="10" name="TextBox 9"/>
          <p:cNvSpPr txBox="1"/>
          <p:nvPr/>
        </p:nvSpPr>
        <p:spPr>
          <a:xfrm>
            <a:off x="8341314" y="5628584"/>
            <a:ext cx="2746265" cy="369332"/>
          </a:xfrm>
          <a:prstGeom prst="rect">
            <a:avLst/>
          </a:prstGeom>
          <a:noFill/>
        </p:spPr>
        <p:txBody>
          <a:bodyPr wrap="none" rtlCol="0">
            <a:spAutoFit/>
          </a:bodyPr>
          <a:lstStyle/>
          <a:p>
            <a:r>
              <a:rPr lang="en-GB" dirty="0"/>
              <a:t>Engineering Simulation</a:t>
            </a:r>
          </a:p>
        </p:txBody>
      </p:sp>
      <p:sp>
        <p:nvSpPr>
          <p:cNvPr id="11" name="TextBox 10"/>
          <p:cNvSpPr txBox="1"/>
          <p:nvPr/>
        </p:nvSpPr>
        <p:spPr>
          <a:xfrm>
            <a:off x="4772065" y="6488668"/>
            <a:ext cx="2311851" cy="369332"/>
          </a:xfrm>
          <a:prstGeom prst="rect">
            <a:avLst/>
          </a:prstGeom>
          <a:noFill/>
        </p:spPr>
        <p:txBody>
          <a:bodyPr wrap="none" rtlCol="0">
            <a:spAutoFit/>
          </a:bodyPr>
          <a:lstStyle/>
          <a:p>
            <a:r>
              <a:rPr lang="en-GB" dirty="0"/>
              <a:t>Back of the Napkin</a:t>
            </a:r>
          </a:p>
        </p:txBody>
      </p:sp>
      <p:sp>
        <p:nvSpPr>
          <p:cNvPr id="12" name="TextBox 11"/>
          <p:cNvSpPr txBox="1"/>
          <p:nvPr/>
        </p:nvSpPr>
        <p:spPr>
          <a:xfrm>
            <a:off x="591699" y="6299194"/>
            <a:ext cx="2274982" cy="369332"/>
          </a:xfrm>
          <a:prstGeom prst="rect">
            <a:avLst/>
          </a:prstGeom>
          <a:noFill/>
        </p:spPr>
        <p:txBody>
          <a:bodyPr wrap="none" rtlCol="0">
            <a:spAutoFit/>
          </a:bodyPr>
          <a:lstStyle/>
          <a:p>
            <a:r>
              <a:rPr lang="en-GB" dirty="0"/>
              <a:t>Physical prototypes</a:t>
            </a:r>
          </a:p>
        </p:txBody>
      </p:sp>
      <p:pic>
        <p:nvPicPr>
          <p:cNvPr id="3074" name="Picture 2" descr="Image result for simulin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46644" y="4150066"/>
            <a:ext cx="2265408" cy="14216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p:cNvPicPr>
            <a:picLocks noChangeAspect="1"/>
          </p:cNvPicPr>
          <p:nvPr/>
        </p:nvPicPr>
        <p:blipFill>
          <a:blip r:embed="rId8"/>
          <a:stretch>
            <a:fillRect/>
          </a:stretch>
        </p:blipFill>
        <p:spPr>
          <a:xfrm>
            <a:off x="7618265" y="3142422"/>
            <a:ext cx="2466975" cy="1847850"/>
          </a:xfrm>
          <a:prstGeom prst="rect">
            <a:avLst/>
          </a:prstGeom>
        </p:spPr>
      </p:pic>
      <p:sp>
        <p:nvSpPr>
          <p:cNvPr id="13" name="TextBox 12"/>
          <p:cNvSpPr txBox="1"/>
          <p:nvPr/>
        </p:nvSpPr>
        <p:spPr>
          <a:xfrm>
            <a:off x="1515283" y="3338569"/>
            <a:ext cx="5233087" cy="1200329"/>
          </a:xfrm>
          <a:prstGeom prst="rect">
            <a:avLst/>
          </a:prstGeom>
          <a:noFill/>
        </p:spPr>
        <p:txBody>
          <a:bodyPr wrap="square" rtlCol="0">
            <a:spAutoFit/>
          </a:bodyPr>
          <a:lstStyle/>
          <a:p>
            <a:pPr algn="ctr"/>
            <a:r>
              <a:rPr lang="en-GB" sz="2400" dirty="0">
                <a:solidFill>
                  <a:srgbClr val="FF0000"/>
                </a:solidFill>
                <a:effectLst>
                  <a:outerShdw blurRad="38100" dist="38100" dir="2700000" algn="tl">
                    <a:srgbClr val="000000">
                      <a:alpha val="43137"/>
                    </a:srgbClr>
                  </a:outerShdw>
                </a:effectLst>
              </a:rPr>
              <a:t>Chiefly concerned with the system / sub-system / component’s </a:t>
            </a:r>
            <a:r>
              <a:rPr lang="en-GB" sz="2400" b="1" dirty="0">
                <a:solidFill>
                  <a:srgbClr val="FF0000"/>
                </a:solidFill>
                <a:effectLst>
                  <a:outerShdw blurRad="38100" dist="38100" dir="2700000" algn="tl">
                    <a:srgbClr val="000000">
                      <a:alpha val="43137"/>
                    </a:srgbClr>
                  </a:outerShdw>
                </a:effectLst>
              </a:rPr>
              <a:t>PERFORMANCE</a:t>
            </a:r>
            <a:endParaRPr lang="en-GB" sz="2400"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29181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07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dirty="0"/>
              <a:t>Financial aspects</a:t>
            </a:r>
          </a:p>
        </p:txBody>
      </p:sp>
      <p:sp>
        <p:nvSpPr>
          <p:cNvPr id="8" name="Content Placeholder 7"/>
          <p:cNvSpPr>
            <a:spLocks noGrp="1"/>
          </p:cNvSpPr>
          <p:nvPr>
            <p:ph idx="1"/>
          </p:nvPr>
        </p:nvSpPr>
        <p:spPr/>
        <p:txBody>
          <a:bodyPr/>
          <a:lstStyle/>
          <a:p>
            <a:r>
              <a:rPr lang="en-GB" dirty="0"/>
              <a:t>Not just “part cost”</a:t>
            </a:r>
          </a:p>
          <a:p>
            <a:r>
              <a:rPr lang="en-GB" dirty="0"/>
              <a:t>Life-cycle costing needs to be kept in mind</a:t>
            </a:r>
          </a:p>
          <a:p>
            <a:r>
              <a:rPr lang="en-GB" dirty="0"/>
              <a:t>Uncertainties</a:t>
            </a:r>
          </a:p>
          <a:p>
            <a:pPr lvl="1"/>
            <a:r>
              <a:rPr lang="en-GB" dirty="0"/>
              <a:t>Inflation</a:t>
            </a:r>
          </a:p>
          <a:p>
            <a:pPr lvl="1"/>
            <a:r>
              <a:rPr lang="en-GB" dirty="0"/>
              <a:t>Exchange rates</a:t>
            </a:r>
          </a:p>
          <a:p>
            <a:pPr lvl="1"/>
            <a:r>
              <a:rPr lang="en-GB" dirty="0"/>
              <a:t>Delivery costs</a:t>
            </a:r>
          </a:p>
        </p:txBody>
      </p:sp>
      <p:pic>
        <p:nvPicPr>
          <p:cNvPr id="10" name="Picture 9"/>
          <p:cNvPicPr>
            <a:picLocks noChangeAspect="1"/>
          </p:cNvPicPr>
          <p:nvPr/>
        </p:nvPicPr>
        <p:blipFill>
          <a:blip r:embed="rId2"/>
          <a:stretch>
            <a:fillRect/>
          </a:stretch>
        </p:blipFill>
        <p:spPr>
          <a:xfrm>
            <a:off x="522968" y="4345961"/>
            <a:ext cx="5819775" cy="2152650"/>
          </a:xfrm>
          <a:prstGeom prst="rect">
            <a:avLst/>
          </a:prstGeom>
        </p:spPr>
      </p:pic>
      <p:pic>
        <p:nvPicPr>
          <p:cNvPr id="11" name="Picture 10"/>
          <p:cNvPicPr>
            <a:picLocks noChangeAspect="1"/>
          </p:cNvPicPr>
          <p:nvPr/>
        </p:nvPicPr>
        <p:blipFill rotWithShape="1">
          <a:blip r:embed="rId3"/>
          <a:srcRect l="28160" t="21699" r="22834" b="16507"/>
          <a:stretch/>
        </p:blipFill>
        <p:spPr>
          <a:xfrm>
            <a:off x="7452886" y="1691322"/>
            <a:ext cx="3143250" cy="2914650"/>
          </a:xfrm>
          <a:prstGeom prst="ellipse">
            <a:avLst/>
          </a:prstGeom>
          <a:ln>
            <a:noFill/>
          </a:ln>
          <a:effectLst>
            <a:softEdge rad="112500"/>
          </a:effectLst>
        </p:spPr>
      </p:pic>
      <p:sp>
        <p:nvSpPr>
          <p:cNvPr id="12" name="Oval 11"/>
          <p:cNvSpPr/>
          <p:nvPr/>
        </p:nvSpPr>
        <p:spPr>
          <a:xfrm>
            <a:off x="4237265" y="4250711"/>
            <a:ext cx="2162628" cy="937239"/>
          </a:xfrm>
          <a:prstGeom prst="ellipse">
            <a:avLst/>
          </a:prstGeom>
          <a:noFill/>
          <a:ln w="76200">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3160905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Risks</a:t>
            </a:r>
          </a:p>
        </p:txBody>
      </p:sp>
      <p:sp>
        <p:nvSpPr>
          <p:cNvPr id="3" name="Content Placeholder 2"/>
          <p:cNvSpPr>
            <a:spLocks noGrp="1"/>
          </p:cNvSpPr>
          <p:nvPr>
            <p:ph idx="1"/>
          </p:nvPr>
        </p:nvSpPr>
        <p:spPr/>
        <p:txBody>
          <a:bodyPr/>
          <a:lstStyle/>
          <a:p>
            <a:r>
              <a:rPr lang="en-GB" dirty="0"/>
              <a:t>Generally, aim to minimise risk</a:t>
            </a:r>
          </a:p>
          <a:p>
            <a:r>
              <a:rPr lang="en-GB" dirty="0"/>
              <a:t>Types of risk include, financial, time, and technical risk</a:t>
            </a:r>
          </a:p>
          <a:p>
            <a:r>
              <a:rPr lang="en-GB" dirty="0"/>
              <a:t>Classification of technical risk:</a:t>
            </a:r>
          </a:p>
          <a:p>
            <a:endParaRPr lang="en-GB" dirty="0"/>
          </a:p>
        </p:txBody>
      </p:sp>
      <p:pic>
        <p:nvPicPr>
          <p:cNvPr id="4" name="Picture 3"/>
          <p:cNvPicPr>
            <a:picLocks noChangeAspect="1"/>
          </p:cNvPicPr>
          <p:nvPr/>
        </p:nvPicPr>
        <p:blipFill>
          <a:blip r:embed="rId3"/>
          <a:stretch>
            <a:fillRect/>
          </a:stretch>
        </p:blipFill>
        <p:spPr>
          <a:xfrm>
            <a:off x="1555242" y="3195774"/>
            <a:ext cx="9105900" cy="3409950"/>
          </a:xfrm>
          <a:prstGeom prst="rect">
            <a:avLst/>
          </a:prstGeom>
        </p:spPr>
      </p:pic>
    </p:spTree>
    <p:extLst>
      <p:ext uri="{BB962C8B-B14F-4D97-AF65-F5344CB8AC3E}">
        <p14:creationId xmlns:p14="http://schemas.microsoft.com/office/powerpoint/2010/main" val="390496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Apples vs Oranges</a:t>
            </a:r>
          </a:p>
        </p:txBody>
      </p:sp>
      <p:sp>
        <p:nvSpPr>
          <p:cNvPr id="3" name="Content Placeholder 2"/>
          <p:cNvSpPr>
            <a:spLocks noGrp="1"/>
          </p:cNvSpPr>
          <p:nvPr>
            <p:ph idx="1"/>
          </p:nvPr>
        </p:nvSpPr>
        <p:spPr/>
        <p:txBody>
          <a:bodyPr/>
          <a:lstStyle/>
          <a:p>
            <a:r>
              <a:rPr lang="en-GB" dirty="0"/>
              <a:t>Comparing different aspects</a:t>
            </a:r>
          </a:p>
          <a:p>
            <a:pPr lvl="1"/>
            <a:r>
              <a:rPr lang="en-GB" dirty="0"/>
              <a:t>Qualitative vs Quantitative</a:t>
            </a:r>
          </a:p>
          <a:p>
            <a:pPr lvl="1"/>
            <a:r>
              <a:rPr lang="en-GB" dirty="0"/>
              <a:t>Cost vs Risk</a:t>
            </a:r>
          </a:p>
          <a:p>
            <a:pPr lvl="1"/>
            <a:r>
              <a:rPr lang="en-GB" dirty="0"/>
              <a:t>Technical vs Non-Technical</a:t>
            </a:r>
          </a:p>
          <a:p>
            <a:pPr lvl="1"/>
            <a:endParaRPr lang="en-GB" dirty="0"/>
          </a:p>
          <a:p>
            <a:r>
              <a:rPr lang="en-GB" dirty="0"/>
              <a:t>Utility functions</a:t>
            </a:r>
          </a:p>
          <a:p>
            <a:pPr lvl="1"/>
            <a:r>
              <a:rPr lang="en-GB" dirty="0"/>
              <a:t>Convert input space to a value between 0 and 1</a:t>
            </a:r>
          </a:p>
          <a:p>
            <a:pPr lvl="1"/>
            <a:r>
              <a:rPr lang="en-GB" dirty="0"/>
              <a:t>Linear, non-linear, and discrete</a:t>
            </a:r>
          </a:p>
          <a:p>
            <a:pPr lvl="1"/>
            <a:r>
              <a:rPr lang="en-GB" dirty="0"/>
              <a:t>Range and type decided beforehand</a:t>
            </a:r>
          </a:p>
        </p:txBody>
      </p:sp>
      <p:pic>
        <p:nvPicPr>
          <p:cNvPr id="4098" name="Picture 2" descr="Image result for apples vs oranges"/>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9983" b="89974" l="2474" r="98145"/>
                    </a14:imgEffect>
                  </a14:imgLayer>
                </a14:imgProps>
              </a:ext>
              <a:ext uri="{28A0092B-C50C-407E-A947-70E740481C1C}">
                <a14:useLocalDpi xmlns:a14="http://schemas.microsoft.com/office/drawing/2010/main" val="0"/>
              </a:ext>
            </a:extLst>
          </a:blip>
          <a:srcRect/>
          <a:stretch>
            <a:fillRect/>
          </a:stretch>
        </p:blipFill>
        <p:spPr bwMode="auto">
          <a:xfrm>
            <a:off x="5599556" y="3322796"/>
            <a:ext cx="5735956" cy="4301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0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Commonly used Utility Functions</a:t>
            </a:r>
          </a:p>
        </p:txBody>
      </p:sp>
      <p:pic>
        <p:nvPicPr>
          <p:cNvPr id="4" name="Picture 3"/>
          <p:cNvPicPr>
            <a:picLocks noChangeAspect="1"/>
          </p:cNvPicPr>
          <p:nvPr/>
        </p:nvPicPr>
        <p:blipFill>
          <a:blip r:embed="rId2"/>
          <a:stretch>
            <a:fillRect/>
          </a:stretch>
        </p:blipFill>
        <p:spPr>
          <a:xfrm>
            <a:off x="2317008" y="2210315"/>
            <a:ext cx="6400800" cy="4076700"/>
          </a:xfrm>
          <a:prstGeom prst="rect">
            <a:avLst/>
          </a:prstGeom>
        </p:spPr>
      </p:pic>
      <p:sp>
        <p:nvSpPr>
          <p:cNvPr id="7" name="TextBox 6"/>
          <p:cNvSpPr txBox="1"/>
          <p:nvPr/>
        </p:nvSpPr>
        <p:spPr>
          <a:xfrm rot="18873358">
            <a:off x="2324032" y="2427290"/>
            <a:ext cx="1981999" cy="307777"/>
          </a:xfrm>
          <a:prstGeom prst="rect">
            <a:avLst/>
          </a:prstGeom>
          <a:noFill/>
        </p:spPr>
        <p:txBody>
          <a:bodyPr wrap="square" rtlCol="0">
            <a:spAutoFit/>
          </a:bodyPr>
          <a:lstStyle/>
          <a:p>
            <a:r>
              <a:rPr lang="en-GB" sz="1400" b="1" dirty="0">
                <a:solidFill>
                  <a:srgbClr val="FF0000"/>
                </a:solidFill>
              </a:rPr>
              <a:t>MORE IS BETTER</a:t>
            </a:r>
          </a:p>
        </p:txBody>
      </p:sp>
      <p:sp>
        <p:nvSpPr>
          <p:cNvPr id="8" name="TextBox 7"/>
          <p:cNvSpPr txBox="1"/>
          <p:nvPr/>
        </p:nvSpPr>
        <p:spPr>
          <a:xfrm rot="2739298">
            <a:off x="4625155" y="2686568"/>
            <a:ext cx="1981999" cy="307777"/>
          </a:xfrm>
          <a:prstGeom prst="rect">
            <a:avLst/>
          </a:prstGeom>
          <a:noFill/>
        </p:spPr>
        <p:txBody>
          <a:bodyPr wrap="square" rtlCol="0">
            <a:spAutoFit/>
          </a:bodyPr>
          <a:lstStyle/>
          <a:p>
            <a:r>
              <a:rPr lang="en-GB" sz="1400" b="1" dirty="0">
                <a:solidFill>
                  <a:srgbClr val="FF0000"/>
                </a:solidFill>
              </a:rPr>
              <a:t>LESS IS BETTER</a:t>
            </a:r>
          </a:p>
        </p:txBody>
      </p:sp>
      <p:sp>
        <p:nvSpPr>
          <p:cNvPr id="9" name="TextBox 8"/>
          <p:cNvSpPr txBox="1"/>
          <p:nvPr/>
        </p:nvSpPr>
        <p:spPr>
          <a:xfrm>
            <a:off x="8233275" y="2368970"/>
            <a:ext cx="1981999" cy="523220"/>
          </a:xfrm>
          <a:prstGeom prst="rect">
            <a:avLst/>
          </a:prstGeom>
          <a:noFill/>
        </p:spPr>
        <p:txBody>
          <a:bodyPr wrap="square" rtlCol="0">
            <a:spAutoFit/>
          </a:bodyPr>
          <a:lstStyle/>
          <a:p>
            <a:r>
              <a:rPr lang="en-GB" sz="1400" b="1" dirty="0">
                <a:solidFill>
                  <a:srgbClr val="FF0000"/>
                </a:solidFill>
              </a:rPr>
              <a:t>SLIGHTLY MORE IS ACCEPTABLE</a:t>
            </a:r>
          </a:p>
        </p:txBody>
      </p:sp>
      <p:sp>
        <p:nvSpPr>
          <p:cNvPr id="11" name="TextBox 10"/>
          <p:cNvSpPr txBox="1"/>
          <p:nvPr/>
        </p:nvSpPr>
        <p:spPr>
          <a:xfrm>
            <a:off x="2324031" y="6282788"/>
            <a:ext cx="1981999" cy="523220"/>
          </a:xfrm>
          <a:prstGeom prst="rect">
            <a:avLst/>
          </a:prstGeom>
          <a:noFill/>
        </p:spPr>
        <p:txBody>
          <a:bodyPr wrap="square" rtlCol="0">
            <a:spAutoFit/>
          </a:bodyPr>
          <a:lstStyle/>
          <a:p>
            <a:pPr algn="ctr"/>
            <a:r>
              <a:rPr lang="en-GB" sz="1400" b="1" dirty="0">
                <a:solidFill>
                  <a:srgbClr val="FF0000"/>
                </a:solidFill>
              </a:rPr>
              <a:t>DISCRETE</a:t>
            </a:r>
          </a:p>
          <a:p>
            <a:pPr algn="ctr"/>
            <a:r>
              <a:rPr lang="en-GB" sz="1400" b="1" dirty="0">
                <a:solidFill>
                  <a:srgbClr val="FF0000"/>
                </a:solidFill>
              </a:rPr>
              <a:t>(Risk as example)</a:t>
            </a:r>
          </a:p>
        </p:txBody>
      </p:sp>
      <p:sp>
        <p:nvSpPr>
          <p:cNvPr id="12" name="TextBox 11"/>
          <p:cNvSpPr txBox="1"/>
          <p:nvPr/>
        </p:nvSpPr>
        <p:spPr>
          <a:xfrm>
            <a:off x="8984457" y="4707357"/>
            <a:ext cx="2200375" cy="307777"/>
          </a:xfrm>
          <a:prstGeom prst="rect">
            <a:avLst/>
          </a:prstGeom>
          <a:noFill/>
        </p:spPr>
        <p:txBody>
          <a:bodyPr wrap="square" rtlCol="0">
            <a:spAutoFit/>
          </a:bodyPr>
          <a:lstStyle/>
          <a:p>
            <a:r>
              <a:rPr lang="en-GB" sz="1400" b="1" dirty="0">
                <a:solidFill>
                  <a:srgbClr val="FF0000"/>
                </a:solidFill>
              </a:rPr>
              <a:t>TYPICAL OF MONEY</a:t>
            </a:r>
          </a:p>
        </p:txBody>
      </p:sp>
      <p:sp>
        <p:nvSpPr>
          <p:cNvPr id="14" name="Oval 13"/>
          <p:cNvSpPr/>
          <p:nvPr/>
        </p:nvSpPr>
        <p:spPr>
          <a:xfrm>
            <a:off x="7791559" y="5138617"/>
            <a:ext cx="205279" cy="20527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0000"/>
              </a:solidFill>
            </a:endParaRPr>
          </a:p>
        </p:txBody>
      </p:sp>
      <p:cxnSp>
        <p:nvCxnSpPr>
          <p:cNvPr id="18" name="Straight Arrow Connector 17"/>
          <p:cNvCxnSpPr/>
          <p:nvPr/>
        </p:nvCxnSpPr>
        <p:spPr>
          <a:xfrm flipH="1">
            <a:off x="8098971" y="4583875"/>
            <a:ext cx="1294411" cy="554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9393382" y="4429986"/>
            <a:ext cx="1672398" cy="307777"/>
          </a:xfrm>
          <a:prstGeom prst="rect">
            <a:avLst/>
          </a:prstGeom>
          <a:noFill/>
        </p:spPr>
        <p:txBody>
          <a:bodyPr wrap="square" rtlCol="0">
            <a:spAutoFit/>
          </a:bodyPr>
          <a:lstStyle/>
          <a:p>
            <a:r>
              <a:rPr lang="en-GB" sz="1400" b="1" dirty="0">
                <a:solidFill>
                  <a:srgbClr val="FF0000"/>
                </a:solidFill>
              </a:rPr>
              <a:t>“Desired cost”</a:t>
            </a:r>
          </a:p>
        </p:txBody>
      </p:sp>
      <p:sp>
        <p:nvSpPr>
          <p:cNvPr id="20" name="TextBox 19"/>
          <p:cNvSpPr txBox="1"/>
          <p:nvPr/>
        </p:nvSpPr>
        <p:spPr>
          <a:xfrm>
            <a:off x="5517408" y="6358091"/>
            <a:ext cx="2200375" cy="307777"/>
          </a:xfrm>
          <a:prstGeom prst="rect">
            <a:avLst/>
          </a:prstGeom>
          <a:noFill/>
        </p:spPr>
        <p:txBody>
          <a:bodyPr wrap="square" rtlCol="0">
            <a:spAutoFit/>
          </a:bodyPr>
          <a:lstStyle/>
          <a:p>
            <a:r>
              <a:rPr lang="en-GB" sz="1400" b="1" dirty="0">
                <a:solidFill>
                  <a:srgbClr val="FF0000"/>
                </a:solidFill>
              </a:rPr>
              <a:t>SIGMOID Functions</a:t>
            </a:r>
          </a:p>
        </p:txBody>
      </p:sp>
    </p:spTree>
    <p:extLst>
      <p:ext uri="{BB962C8B-B14F-4D97-AF65-F5344CB8AC3E}">
        <p14:creationId xmlns:p14="http://schemas.microsoft.com/office/powerpoint/2010/main" val="3506523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3"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1+#ppt_w/2"/>
                                          </p:val>
                                        </p:tav>
                                        <p:tav tm="100000">
                                          <p:val>
                                            <p:strVal val="#ppt_x"/>
                                          </p:val>
                                        </p:tav>
                                      </p:tavLst>
                                    </p:anim>
                                    <p:anim calcmode="lin" valueType="num">
                                      <p:cBhvr additive="base">
                                        <p:cTn id="33" dur="500" fill="hold"/>
                                        <p:tgtEl>
                                          <p:spTgt spid="14"/>
                                        </p:tgtEl>
                                        <p:attrNameLst>
                                          <p:attrName>ppt_y</p:attrName>
                                        </p:attrNameLst>
                                      </p:cBhvr>
                                      <p:tavLst>
                                        <p:tav tm="0">
                                          <p:val>
                                            <p:strVal val="0-#ppt_h/2"/>
                                          </p:val>
                                        </p:tav>
                                        <p:tav tm="100000">
                                          <p:val>
                                            <p:strVal val="#ppt_y"/>
                                          </p:val>
                                        </p:tav>
                                      </p:tavLst>
                                    </p:anim>
                                  </p:childTnLst>
                                </p:cTn>
                              </p:par>
                              <p:par>
                                <p:cTn id="34" presetID="2" presetClass="entr" presetSubtype="3"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1+#ppt_w/2"/>
                                          </p:val>
                                        </p:tav>
                                        <p:tav tm="100000">
                                          <p:val>
                                            <p:strVal val="#ppt_x"/>
                                          </p:val>
                                        </p:tav>
                                      </p:tavLst>
                                    </p:anim>
                                    <p:anim calcmode="lin" valueType="num">
                                      <p:cBhvr additive="base">
                                        <p:cTn id="37" dur="500" fill="hold"/>
                                        <p:tgtEl>
                                          <p:spTgt spid="18"/>
                                        </p:tgtEl>
                                        <p:attrNameLst>
                                          <p:attrName>ppt_y</p:attrName>
                                        </p:attrNameLst>
                                      </p:cBhvr>
                                      <p:tavLst>
                                        <p:tav tm="0">
                                          <p:val>
                                            <p:strVal val="0-#ppt_h/2"/>
                                          </p:val>
                                        </p:tav>
                                        <p:tav tm="100000">
                                          <p:val>
                                            <p:strVal val="#ppt_y"/>
                                          </p:val>
                                        </p:tav>
                                      </p:tavLst>
                                    </p:anim>
                                  </p:childTnLst>
                                </p:cTn>
                              </p:par>
                              <p:par>
                                <p:cTn id="38" presetID="2" presetClass="entr" presetSubtype="3"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500" fill="hold"/>
                                        <p:tgtEl>
                                          <p:spTgt spid="19"/>
                                        </p:tgtEl>
                                        <p:attrNameLst>
                                          <p:attrName>ppt_x</p:attrName>
                                        </p:attrNameLst>
                                      </p:cBhvr>
                                      <p:tavLst>
                                        <p:tav tm="0">
                                          <p:val>
                                            <p:strVal val="1+#ppt_w/2"/>
                                          </p:val>
                                        </p:tav>
                                        <p:tav tm="100000">
                                          <p:val>
                                            <p:strVal val="#ppt_x"/>
                                          </p:val>
                                        </p:tav>
                                      </p:tavLst>
                                    </p:anim>
                                    <p:anim calcmode="lin" valueType="num">
                                      <p:cBhvr additive="base">
                                        <p:cTn id="41" dur="500" fill="hold"/>
                                        <p:tgtEl>
                                          <p:spTgt spid="19"/>
                                        </p:tgtEl>
                                        <p:attrNameLst>
                                          <p:attrName>ppt_y</p:attrName>
                                        </p:attrNameLst>
                                      </p:cBhvr>
                                      <p:tavLst>
                                        <p:tav tm="0">
                                          <p:val>
                                            <p:strVal val="0-#ppt_h/2"/>
                                          </p:val>
                                        </p:tav>
                                        <p:tav tm="100000">
                                          <p:val>
                                            <p:strVal val="#ppt_y"/>
                                          </p:val>
                                        </p:tav>
                                      </p:tavLst>
                                    </p:anim>
                                  </p:childTnLst>
                                </p:cTn>
                              </p:par>
                              <p:par>
                                <p:cTn id="42" presetID="2" presetClass="entr" presetSubtype="3"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1+#ppt_w/2"/>
                                          </p:val>
                                        </p:tav>
                                        <p:tav tm="100000">
                                          <p:val>
                                            <p:strVal val="#ppt_x"/>
                                          </p:val>
                                        </p:tav>
                                      </p:tavLst>
                                    </p:anim>
                                    <p:anim calcmode="lin" valueType="num">
                                      <p:cBhvr additive="base">
                                        <p:cTn id="45"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2" grpId="0"/>
      <p:bldP spid="14" grpId="0" animBg="1"/>
      <p:bldP spid="19"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Criteria Selection</a:t>
            </a:r>
          </a:p>
        </p:txBody>
      </p:sp>
      <p:sp>
        <p:nvSpPr>
          <p:cNvPr id="3" name="Content Placeholder 2"/>
          <p:cNvSpPr>
            <a:spLocks noGrp="1"/>
          </p:cNvSpPr>
          <p:nvPr>
            <p:ph idx="1"/>
          </p:nvPr>
        </p:nvSpPr>
        <p:spPr/>
        <p:txBody>
          <a:bodyPr/>
          <a:lstStyle/>
          <a:p>
            <a:r>
              <a:rPr lang="en-GB" dirty="0"/>
              <a:t>You must have technical criteria, risk, and cost</a:t>
            </a:r>
          </a:p>
          <a:p>
            <a:r>
              <a:rPr lang="en-GB" dirty="0"/>
              <a:t>Technical criteria</a:t>
            </a:r>
          </a:p>
          <a:p>
            <a:pPr lvl="1"/>
            <a:r>
              <a:rPr lang="en-GB" dirty="0"/>
              <a:t>Maximum differentiation</a:t>
            </a:r>
          </a:p>
          <a:p>
            <a:pPr lvl="1"/>
            <a:r>
              <a:rPr lang="en-GB" dirty="0"/>
              <a:t>Parameters that are key to performance in system</a:t>
            </a:r>
          </a:p>
          <a:p>
            <a:pPr lvl="1"/>
            <a:r>
              <a:rPr lang="en-GB" dirty="0"/>
              <a:t>Avoid needless duplication (component size and pin count)</a:t>
            </a:r>
          </a:p>
          <a:p>
            <a:pPr lvl="1"/>
            <a:r>
              <a:rPr lang="en-GB" b="1" dirty="0"/>
              <a:t>DON’T</a:t>
            </a:r>
            <a:r>
              <a:rPr lang="en-GB" dirty="0"/>
              <a:t> copy all parameters from a datasheet</a:t>
            </a:r>
          </a:p>
        </p:txBody>
      </p:sp>
      <p:pic>
        <p:nvPicPr>
          <p:cNvPr id="1026" name="Picture 2" descr="Image result for pareto princi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9657" y="2768916"/>
            <a:ext cx="5820229" cy="4089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0530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Multi-criteria Decision Matrix (MCDM)</a:t>
            </a:r>
          </a:p>
        </p:txBody>
      </p:sp>
      <p:sp>
        <p:nvSpPr>
          <p:cNvPr id="3" name="Content Placeholder 2"/>
          <p:cNvSpPr>
            <a:spLocks noGrp="1"/>
          </p:cNvSpPr>
          <p:nvPr>
            <p:ph idx="1"/>
          </p:nvPr>
        </p:nvSpPr>
        <p:spPr/>
        <p:txBody>
          <a:bodyPr/>
          <a:lstStyle/>
          <a:p>
            <a:r>
              <a:rPr lang="en-GB" dirty="0"/>
              <a:t>Complete MCDM per Alternative</a:t>
            </a:r>
          </a:p>
          <a:p>
            <a:r>
              <a:rPr lang="en-GB" dirty="0"/>
              <a:t>Weights must sum to 1.0</a:t>
            </a:r>
          </a:p>
          <a:p>
            <a:r>
              <a:rPr lang="en-GB" dirty="0"/>
              <a:t>Alternative with the highest score is selected</a:t>
            </a:r>
          </a:p>
          <a:p>
            <a:endParaRPr lang="en-GB" dirty="0"/>
          </a:p>
        </p:txBody>
      </p:sp>
      <p:pic>
        <p:nvPicPr>
          <p:cNvPr id="4" name="Picture 3"/>
          <p:cNvPicPr>
            <a:picLocks noChangeAspect="1"/>
          </p:cNvPicPr>
          <p:nvPr/>
        </p:nvPicPr>
        <p:blipFill>
          <a:blip r:embed="rId3"/>
          <a:stretch>
            <a:fillRect/>
          </a:stretch>
        </p:blipFill>
        <p:spPr>
          <a:xfrm>
            <a:off x="5559552" y="3233243"/>
            <a:ext cx="4918094" cy="3262498"/>
          </a:xfrm>
          <a:prstGeom prst="rect">
            <a:avLst/>
          </a:prstGeom>
        </p:spPr>
      </p:pic>
      <p:sp>
        <p:nvSpPr>
          <p:cNvPr id="5" name="Rounded Rectangle 4"/>
          <p:cNvSpPr/>
          <p:nvPr/>
        </p:nvSpPr>
        <p:spPr>
          <a:xfrm>
            <a:off x="7398327" y="4022588"/>
            <a:ext cx="890649" cy="192131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p:cNvCxnSpPr/>
          <p:nvPr/>
        </p:nvCxnSpPr>
        <p:spPr>
          <a:xfrm flipH="1">
            <a:off x="4393870" y="5723905"/>
            <a:ext cx="3004457"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24037" y="5400739"/>
            <a:ext cx="3369833" cy="646331"/>
          </a:xfrm>
          <a:prstGeom prst="rect">
            <a:avLst/>
          </a:prstGeom>
          <a:noFill/>
          <a:ln>
            <a:solidFill>
              <a:srgbClr val="FF0000"/>
            </a:solidFill>
          </a:ln>
        </p:spPr>
        <p:txBody>
          <a:bodyPr wrap="none" rtlCol="0">
            <a:spAutoFit/>
          </a:bodyPr>
          <a:lstStyle/>
          <a:p>
            <a:r>
              <a:rPr lang="en-GB" dirty="0"/>
              <a:t>Unless there is a good reason,</a:t>
            </a:r>
          </a:p>
          <a:p>
            <a:r>
              <a:rPr lang="en-GB" dirty="0"/>
              <a:t>keep the weights equal</a:t>
            </a:r>
          </a:p>
        </p:txBody>
      </p:sp>
    </p:spTree>
    <p:extLst>
      <p:ext uri="{BB962C8B-B14F-4D97-AF65-F5344CB8AC3E}">
        <p14:creationId xmlns:p14="http://schemas.microsoft.com/office/powerpoint/2010/main" val="1478354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time</a:t>
            </a:r>
          </a:p>
        </p:txBody>
      </p:sp>
      <p:sp>
        <p:nvSpPr>
          <p:cNvPr id="3" name="Content Placeholder 2"/>
          <p:cNvSpPr>
            <a:spLocks noGrp="1"/>
          </p:cNvSpPr>
          <p:nvPr>
            <p:ph idx="1"/>
          </p:nvPr>
        </p:nvSpPr>
        <p:spPr/>
        <p:txBody>
          <a:bodyPr/>
          <a:lstStyle/>
          <a:p>
            <a:r>
              <a:rPr lang="en-GB" dirty="0"/>
              <a:t>Measure the current consumption of boiler</a:t>
            </a:r>
          </a:p>
          <a:p>
            <a:pPr lvl="1"/>
            <a:r>
              <a:rPr lang="en-GB" dirty="0"/>
              <a:t>220V</a:t>
            </a:r>
            <a:r>
              <a:rPr lang="en-GB" baseline="-25000" dirty="0"/>
              <a:t>rms</a:t>
            </a:r>
          </a:p>
          <a:p>
            <a:pPr lvl="1"/>
            <a:r>
              <a:rPr lang="en-GB" dirty="0"/>
              <a:t>2.5 kW peak consumption</a:t>
            </a:r>
          </a:p>
          <a:p>
            <a:pPr lvl="1"/>
            <a:r>
              <a:rPr lang="en-GB" dirty="0"/>
              <a:t>+/- 11.3 A</a:t>
            </a:r>
            <a:r>
              <a:rPr lang="en-GB" baseline="-25000" dirty="0"/>
              <a:t>rms</a:t>
            </a:r>
          </a:p>
          <a:p>
            <a:endParaRPr lang="en-GB" dirty="0"/>
          </a:p>
          <a:p>
            <a:r>
              <a:rPr lang="en-GB" dirty="0"/>
              <a:t>Measure the water outlet temperature of the machine boiler</a:t>
            </a:r>
          </a:p>
          <a:p>
            <a:pPr lvl="1"/>
            <a:r>
              <a:rPr lang="en-GB" dirty="0"/>
              <a:t>100 </a:t>
            </a:r>
            <a:r>
              <a:rPr lang="en-GB" dirty="0">
                <a:latin typeface="Calibri" panose="020F0502020204030204" pitchFamily="34" charset="0"/>
                <a:cs typeface="Calibri" panose="020F0502020204030204" pitchFamily="34" charset="0"/>
              </a:rPr>
              <a:t>⁰C maximum temperature</a:t>
            </a:r>
          </a:p>
          <a:p>
            <a:pPr lvl="1"/>
            <a:r>
              <a:rPr lang="en-GB" dirty="0">
                <a:latin typeface="Calibri" panose="020F0502020204030204" pitchFamily="34" charset="0"/>
                <a:cs typeface="Calibri" panose="020F0502020204030204" pitchFamily="34" charset="0"/>
              </a:rPr>
              <a:t>+/- 1 ⁰C resolution</a:t>
            </a:r>
          </a:p>
          <a:p>
            <a:pPr lvl="1"/>
            <a:r>
              <a:rPr lang="en-GB" dirty="0">
                <a:latin typeface="Calibri" panose="020F0502020204030204" pitchFamily="34" charset="0"/>
                <a:cs typeface="Calibri" panose="020F0502020204030204" pitchFamily="34" charset="0"/>
              </a:rPr>
              <a:t>1 Hz update rate</a:t>
            </a:r>
          </a:p>
        </p:txBody>
      </p:sp>
      <p:pic>
        <p:nvPicPr>
          <p:cNvPr id="2050" name="Picture 2" descr="https://encrypted-tbn0.gstatic.com/images?q=tbn:ANd9GcSto_RlFl3ZwNiSpGY2QVxoWIdyNO1dZ3ihjG8t7lrkya873U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6932" y="4178300"/>
            <a:ext cx="4552730" cy="25175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6143624" y="737249"/>
            <a:ext cx="5073025" cy="3847450"/>
          </a:xfrm>
          <a:prstGeom prst="rect">
            <a:avLst/>
          </a:prstGeom>
        </p:spPr>
      </p:pic>
      <p:cxnSp>
        <p:nvCxnSpPr>
          <p:cNvPr id="6" name="Straight Arrow Connector 5"/>
          <p:cNvCxnSpPr/>
          <p:nvPr/>
        </p:nvCxnSpPr>
        <p:spPr>
          <a:xfrm flipH="1" flipV="1">
            <a:off x="7042068" y="4263242"/>
            <a:ext cx="1828800" cy="1175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322873" y="5523841"/>
            <a:ext cx="2214068" cy="646331"/>
          </a:xfrm>
          <a:prstGeom prst="rect">
            <a:avLst/>
          </a:prstGeom>
          <a:noFill/>
        </p:spPr>
        <p:txBody>
          <a:bodyPr wrap="none" rtlCol="0">
            <a:spAutoFit/>
          </a:bodyPr>
          <a:lstStyle/>
          <a:p>
            <a:pPr algn="ctr"/>
            <a:r>
              <a:rPr lang="en-GB" dirty="0"/>
              <a:t>Do this as an</a:t>
            </a:r>
          </a:p>
          <a:p>
            <a:pPr algn="ctr"/>
            <a:r>
              <a:rPr lang="en-GB" dirty="0"/>
              <a:t>individual exercise</a:t>
            </a:r>
          </a:p>
        </p:txBody>
      </p:sp>
    </p:spTree>
    <p:extLst>
      <p:ext uri="{BB962C8B-B14F-4D97-AF65-F5344CB8AC3E}">
        <p14:creationId xmlns:p14="http://schemas.microsoft.com/office/powerpoint/2010/main" val="1733622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Current measurement</a:t>
            </a:r>
          </a:p>
        </p:txBody>
      </p:sp>
      <p:sp>
        <p:nvSpPr>
          <p:cNvPr id="3" name="Content Placeholder 2"/>
          <p:cNvSpPr>
            <a:spLocks noGrp="1"/>
          </p:cNvSpPr>
          <p:nvPr>
            <p:ph idx="1"/>
          </p:nvPr>
        </p:nvSpPr>
        <p:spPr/>
        <p:txBody>
          <a:bodyPr/>
          <a:lstStyle/>
          <a:p>
            <a:r>
              <a:rPr lang="en-GB" dirty="0"/>
              <a:t>Requirements are known</a:t>
            </a:r>
          </a:p>
          <a:p>
            <a:r>
              <a:rPr lang="en-GB" dirty="0"/>
              <a:t>How to accomplish this?</a:t>
            </a:r>
          </a:p>
        </p:txBody>
      </p:sp>
      <p:pic>
        <p:nvPicPr>
          <p:cNvPr id="4" name="Picture 3"/>
          <p:cNvPicPr>
            <a:picLocks noChangeAspect="1"/>
          </p:cNvPicPr>
          <p:nvPr/>
        </p:nvPicPr>
        <p:blipFill>
          <a:blip r:embed="rId2"/>
          <a:stretch>
            <a:fillRect/>
          </a:stretch>
        </p:blipFill>
        <p:spPr>
          <a:xfrm rot="20248406">
            <a:off x="7619499" y="2370339"/>
            <a:ext cx="4713927" cy="44844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p:cNvPicPr>
            <a:picLocks noChangeAspect="1"/>
          </p:cNvPicPr>
          <p:nvPr/>
        </p:nvPicPr>
        <p:blipFill>
          <a:blip r:embed="rId3"/>
          <a:stretch>
            <a:fillRect/>
          </a:stretch>
        </p:blipFill>
        <p:spPr>
          <a:xfrm>
            <a:off x="375793" y="3058172"/>
            <a:ext cx="4884976" cy="3704831"/>
          </a:xfrm>
          <a:prstGeom prst="rect">
            <a:avLst/>
          </a:prstGeom>
        </p:spPr>
      </p:pic>
      <p:sp>
        <p:nvSpPr>
          <p:cNvPr id="6" name="Rectangle 5"/>
          <p:cNvSpPr/>
          <p:nvPr/>
        </p:nvSpPr>
        <p:spPr>
          <a:xfrm>
            <a:off x="297180" y="3162300"/>
            <a:ext cx="118872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449580" y="4590865"/>
            <a:ext cx="118872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Arrow Connector 8"/>
          <p:cNvCxnSpPr>
            <a:stCxn id="10" idx="1"/>
          </p:cNvCxnSpPr>
          <p:nvPr/>
        </p:nvCxnSpPr>
        <p:spPr>
          <a:xfrm flipH="1">
            <a:off x="1485900" y="2784277"/>
            <a:ext cx="3368040" cy="37802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853940" y="2476500"/>
            <a:ext cx="2193229" cy="615553"/>
          </a:xfrm>
          <a:prstGeom prst="rect">
            <a:avLst/>
          </a:prstGeom>
          <a:noFill/>
        </p:spPr>
        <p:txBody>
          <a:bodyPr wrap="none" rtlCol="0">
            <a:spAutoFit/>
          </a:bodyPr>
          <a:lstStyle/>
          <a:p>
            <a:r>
              <a:rPr lang="en-GB" sz="2000" b="1" dirty="0">
                <a:solidFill>
                  <a:srgbClr val="FF0000"/>
                </a:solidFill>
              </a:rPr>
              <a:t>First decision.</a:t>
            </a:r>
          </a:p>
          <a:p>
            <a:r>
              <a:rPr lang="en-GB" sz="1400" dirty="0">
                <a:solidFill>
                  <a:srgbClr val="FF0000"/>
                </a:solidFill>
              </a:rPr>
              <a:t>Which technology to use</a:t>
            </a:r>
          </a:p>
        </p:txBody>
      </p:sp>
      <p:cxnSp>
        <p:nvCxnSpPr>
          <p:cNvPr id="12" name="Straight Arrow Connector 11"/>
          <p:cNvCxnSpPr/>
          <p:nvPr/>
        </p:nvCxnSpPr>
        <p:spPr>
          <a:xfrm flipH="1">
            <a:off x="1638300" y="3803048"/>
            <a:ext cx="1811235" cy="78781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449535" y="3436195"/>
            <a:ext cx="1715534" cy="738664"/>
          </a:xfrm>
          <a:prstGeom prst="rect">
            <a:avLst/>
          </a:prstGeom>
          <a:noFill/>
        </p:spPr>
        <p:txBody>
          <a:bodyPr wrap="none" rtlCol="0">
            <a:spAutoFit/>
          </a:bodyPr>
          <a:lstStyle/>
          <a:p>
            <a:r>
              <a:rPr lang="en-GB" sz="1400" dirty="0">
                <a:solidFill>
                  <a:srgbClr val="FF0000"/>
                </a:solidFill>
              </a:rPr>
              <a:t>Internet, Books,</a:t>
            </a:r>
          </a:p>
          <a:p>
            <a:r>
              <a:rPr lang="en-GB" sz="1400" dirty="0">
                <a:solidFill>
                  <a:srgbClr val="FF0000"/>
                </a:solidFill>
              </a:rPr>
              <a:t>Application Notes,</a:t>
            </a:r>
          </a:p>
          <a:p>
            <a:r>
              <a:rPr lang="en-GB" sz="1400" dirty="0">
                <a:solidFill>
                  <a:srgbClr val="FF0000"/>
                </a:solidFill>
              </a:rPr>
              <a:t>White papers</a:t>
            </a:r>
            <a:endParaRPr lang="en-GB" sz="1050" dirty="0">
              <a:solidFill>
                <a:srgbClr val="FF0000"/>
              </a:solidFill>
            </a:endParaRPr>
          </a:p>
        </p:txBody>
      </p:sp>
    </p:spTree>
    <p:extLst>
      <p:ext uri="{BB962C8B-B14F-4D97-AF65-F5344CB8AC3E}">
        <p14:creationId xmlns:p14="http://schemas.microsoft.com/office/powerpoint/2010/main" val="2110420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Current measurement</a:t>
            </a:r>
          </a:p>
        </p:txBody>
      </p:sp>
      <p:sp>
        <p:nvSpPr>
          <p:cNvPr id="3" name="Content Placeholder 2"/>
          <p:cNvSpPr>
            <a:spLocks noGrp="1"/>
          </p:cNvSpPr>
          <p:nvPr>
            <p:ph idx="1"/>
          </p:nvPr>
        </p:nvSpPr>
        <p:spPr/>
        <p:txBody>
          <a:bodyPr>
            <a:normAutofit fontScale="77500" lnSpcReduction="20000"/>
          </a:bodyPr>
          <a:lstStyle/>
          <a:p>
            <a:r>
              <a:rPr lang="en-GB" dirty="0"/>
              <a:t>Current transformer</a:t>
            </a:r>
          </a:p>
          <a:p>
            <a:pPr lvl="1"/>
            <a:r>
              <a:rPr lang="en-GB" dirty="0"/>
              <a:t>Large current range,</a:t>
            </a:r>
          </a:p>
          <a:p>
            <a:pPr lvl="1"/>
            <a:r>
              <a:rPr lang="en-GB" dirty="0"/>
              <a:t>Physically large</a:t>
            </a:r>
          </a:p>
          <a:p>
            <a:pPr lvl="1"/>
            <a:r>
              <a:rPr lang="en-GB" dirty="0"/>
              <a:t>No DC measurement</a:t>
            </a:r>
          </a:p>
          <a:p>
            <a:pPr lvl="1"/>
            <a:r>
              <a:rPr lang="en-GB" dirty="0"/>
              <a:t>Common</a:t>
            </a:r>
          </a:p>
          <a:p>
            <a:r>
              <a:rPr lang="en-GB" dirty="0"/>
              <a:t>Resistive element</a:t>
            </a:r>
          </a:p>
          <a:p>
            <a:pPr lvl="1"/>
            <a:r>
              <a:rPr lang="en-GB" dirty="0"/>
              <a:t>Very cheap</a:t>
            </a:r>
          </a:p>
          <a:p>
            <a:pPr lvl="1"/>
            <a:r>
              <a:rPr lang="en-GB" dirty="0"/>
              <a:t>No isolation between mains and signal</a:t>
            </a:r>
          </a:p>
          <a:p>
            <a:pPr lvl="1"/>
            <a:r>
              <a:rPr lang="en-GB" dirty="0"/>
              <a:t>Requires additional amplifier</a:t>
            </a:r>
          </a:p>
          <a:p>
            <a:r>
              <a:rPr lang="en-GB" dirty="0"/>
              <a:t>Hall effect sensor</a:t>
            </a:r>
          </a:p>
          <a:p>
            <a:pPr lvl="1"/>
            <a:r>
              <a:rPr lang="en-GB" dirty="0"/>
              <a:t>Isolated</a:t>
            </a:r>
          </a:p>
          <a:p>
            <a:pPr lvl="1"/>
            <a:r>
              <a:rPr lang="en-GB" dirty="0"/>
              <a:t>Commonly used</a:t>
            </a:r>
          </a:p>
          <a:p>
            <a:pPr lvl="1"/>
            <a:r>
              <a:rPr lang="en-GB" dirty="0"/>
              <a:t>Cost effective</a:t>
            </a:r>
          </a:p>
          <a:p>
            <a:pPr lvl="1"/>
            <a:r>
              <a:rPr lang="en-GB" dirty="0"/>
              <a:t>AC and DC measurement</a:t>
            </a:r>
          </a:p>
          <a:p>
            <a:r>
              <a:rPr lang="en-GB" dirty="0" err="1"/>
              <a:t>Rogowski</a:t>
            </a:r>
            <a:r>
              <a:rPr lang="en-GB" dirty="0"/>
              <a:t> coil</a:t>
            </a:r>
          </a:p>
          <a:p>
            <a:pPr lvl="1"/>
            <a:r>
              <a:rPr lang="en-GB" dirty="0"/>
              <a:t>Easy to install</a:t>
            </a:r>
          </a:p>
          <a:p>
            <a:pPr lvl="1"/>
            <a:r>
              <a:rPr lang="en-GB" dirty="0"/>
              <a:t>Good for nanosecond signals</a:t>
            </a:r>
          </a:p>
          <a:p>
            <a:pPr lvl="1"/>
            <a:r>
              <a:rPr lang="en-GB" dirty="0"/>
              <a:t>Requires additional components</a:t>
            </a:r>
          </a:p>
        </p:txBody>
      </p:sp>
      <p:pic>
        <p:nvPicPr>
          <p:cNvPr id="4" name="Picture 3"/>
          <p:cNvPicPr>
            <a:picLocks noChangeAspect="1"/>
          </p:cNvPicPr>
          <p:nvPr/>
        </p:nvPicPr>
        <p:blipFill>
          <a:blip r:embed="rId3"/>
          <a:stretch>
            <a:fillRect/>
          </a:stretch>
        </p:blipFill>
        <p:spPr>
          <a:xfrm>
            <a:off x="6311787" y="2002817"/>
            <a:ext cx="4642725" cy="44166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p:cNvPicPr>
            <a:picLocks noChangeAspect="1"/>
          </p:cNvPicPr>
          <p:nvPr/>
        </p:nvPicPr>
        <p:blipFill rotWithShape="1">
          <a:blip r:embed="rId4"/>
          <a:srcRect b="7594"/>
          <a:stretch/>
        </p:blipFill>
        <p:spPr>
          <a:xfrm>
            <a:off x="1836307" y="2861307"/>
            <a:ext cx="1156275" cy="1152555"/>
          </a:xfrm>
          <a:prstGeom prst="rect">
            <a:avLst/>
          </a:prstGeom>
        </p:spPr>
      </p:pic>
    </p:spTree>
    <p:extLst>
      <p:ext uri="{BB962C8B-B14F-4D97-AF65-F5344CB8AC3E}">
        <p14:creationId xmlns:p14="http://schemas.microsoft.com/office/powerpoint/2010/main" val="49083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6" end="1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12"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 calcmode="lin" valueType="num">
                                      <p:cBhvr additive="base">
                                        <p:cTn id="51" dur="500" fill="hold"/>
                                        <p:tgtEl>
                                          <p:spTgt spid="7"/>
                                        </p:tgtEl>
                                        <p:attrNameLst>
                                          <p:attrName>ppt_x</p:attrName>
                                        </p:attrNameLst>
                                      </p:cBhvr>
                                      <p:tavLst>
                                        <p:tav tm="0">
                                          <p:val>
                                            <p:strVal val="0-#ppt_w/2"/>
                                          </p:val>
                                        </p:tav>
                                        <p:tav tm="100000">
                                          <p:val>
                                            <p:strVal val="#ppt_x"/>
                                          </p:val>
                                        </p:tav>
                                      </p:tavLst>
                                    </p:anim>
                                    <p:anim calcmode="lin" valueType="num">
                                      <p:cBhvr additive="base">
                                        <p:cTn id="5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1 – Decide on Utility functions</a:t>
            </a:r>
          </a:p>
        </p:txBody>
      </p:sp>
      <p:sp>
        <p:nvSpPr>
          <p:cNvPr id="3" name="Content Placeholder 2"/>
          <p:cNvSpPr>
            <a:spLocks noGrp="1"/>
          </p:cNvSpPr>
          <p:nvPr>
            <p:ph sz="half" idx="1"/>
          </p:nvPr>
        </p:nvSpPr>
        <p:spPr/>
        <p:txBody>
          <a:bodyPr>
            <a:normAutofit fontScale="92500" lnSpcReduction="20000"/>
          </a:bodyPr>
          <a:lstStyle/>
          <a:p>
            <a:r>
              <a:rPr lang="en-GB" dirty="0"/>
              <a:t>Risk</a:t>
            </a:r>
          </a:p>
          <a:p>
            <a:pPr lvl="1"/>
            <a:r>
              <a:rPr lang="en-GB" dirty="0"/>
              <a:t>Map 1-5 risks to 0 – 1 range</a:t>
            </a:r>
          </a:p>
          <a:p>
            <a:endParaRPr lang="en-GB" dirty="0"/>
          </a:p>
          <a:p>
            <a:endParaRPr lang="en-GB" dirty="0"/>
          </a:p>
          <a:p>
            <a:endParaRPr lang="en-GB" dirty="0"/>
          </a:p>
          <a:p>
            <a:endParaRPr lang="en-GB" dirty="0"/>
          </a:p>
          <a:p>
            <a:r>
              <a:rPr lang="en-GB" dirty="0"/>
              <a:t>Component Cost</a:t>
            </a:r>
          </a:p>
          <a:p>
            <a:pPr lvl="1"/>
            <a:r>
              <a:rPr lang="en-GB" dirty="0"/>
              <a:t>Free is best, R300 seems reasonable</a:t>
            </a:r>
          </a:p>
          <a:p>
            <a:pPr lvl="1"/>
            <a:r>
              <a:rPr lang="en-GB" dirty="0"/>
              <a:t>R500 maximum available</a:t>
            </a:r>
          </a:p>
          <a:p>
            <a:endParaRPr lang="en-GB" dirty="0"/>
          </a:p>
          <a:p>
            <a:endParaRPr lang="en-GB" dirty="0"/>
          </a:p>
        </p:txBody>
      </p:sp>
      <p:sp>
        <p:nvSpPr>
          <p:cNvPr id="4" name="Content Placeholder 3"/>
          <p:cNvSpPr>
            <a:spLocks noGrp="1"/>
          </p:cNvSpPr>
          <p:nvPr>
            <p:ph sz="half" idx="2"/>
          </p:nvPr>
        </p:nvSpPr>
        <p:spPr>
          <a:xfrm>
            <a:off x="6108192" y="2000249"/>
            <a:ext cx="4480560" cy="4768686"/>
          </a:xfrm>
        </p:spPr>
        <p:txBody>
          <a:bodyPr>
            <a:normAutofit fontScale="92500" lnSpcReduction="20000"/>
          </a:bodyPr>
          <a:lstStyle/>
          <a:p>
            <a:r>
              <a:rPr lang="en-GB" dirty="0"/>
              <a:t>Technical parameters to consider</a:t>
            </a:r>
          </a:p>
          <a:p>
            <a:pPr lvl="1"/>
            <a:r>
              <a:rPr lang="en-GB" dirty="0"/>
              <a:t>Lead time</a:t>
            </a:r>
          </a:p>
          <a:p>
            <a:pPr lvl="2"/>
            <a:r>
              <a:rPr lang="en-GB" dirty="0"/>
              <a:t>Immediate best, shorter better</a:t>
            </a:r>
          </a:p>
          <a:p>
            <a:pPr lvl="2"/>
            <a:r>
              <a:rPr lang="en-GB" dirty="0"/>
              <a:t>12 weeks absolute worst</a:t>
            </a:r>
          </a:p>
          <a:p>
            <a:pPr lvl="2"/>
            <a:endParaRPr lang="en-GB" dirty="0"/>
          </a:p>
          <a:p>
            <a:pPr lvl="2"/>
            <a:endParaRPr lang="en-GB" dirty="0"/>
          </a:p>
          <a:p>
            <a:pPr lvl="2"/>
            <a:endParaRPr lang="en-GB" dirty="0"/>
          </a:p>
          <a:p>
            <a:pPr lvl="1"/>
            <a:r>
              <a:rPr lang="en-GB" dirty="0"/>
              <a:t>Measurement range</a:t>
            </a:r>
          </a:p>
          <a:p>
            <a:pPr lvl="2"/>
            <a:r>
              <a:rPr lang="en-GB" dirty="0"/>
              <a:t>Minimum required, more not much better</a:t>
            </a:r>
          </a:p>
          <a:p>
            <a:pPr lvl="2"/>
            <a:endParaRPr lang="en-GB" dirty="0"/>
          </a:p>
          <a:p>
            <a:pPr lvl="2"/>
            <a:endParaRPr lang="en-GB" dirty="0"/>
          </a:p>
          <a:p>
            <a:pPr lvl="2"/>
            <a:endParaRPr lang="en-GB" dirty="0"/>
          </a:p>
          <a:p>
            <a:pPr lvl="1"/>
            <a:r>
              <a:rPr lang="en-GB" dirty="0"/>
              <a:t>Response (bandwidth)</a:t>
            </a:r>
          </a:p>
          <a:p>
            <a:pPr lvl="2"/>
            <a:r>
              <a:rPr lang="en-GB" dirty="0"/>
              <a:t>50Hz at least more better</a:t>
            </a:r>
          </a:p>
          <a:p>
            <a:pPr lvl="2"/>
            <a:endParaRPr lang="en-GB" dirty="0"/>
          </a:p>
          <a:p>
            <a:pPr lvl="2"/>
            <a:endParaRPr lang="en-GB" dirty="0"/>
          </a:p>
          <a:p>
            <a:pPr lvl="1"/>
            <a:r>
              <a:rPr lang="en-GB" dirty="0"/>
              <a:t>Measurement sensitivity</a:t>
            </a:r>
          </a:p>
          <a:p>
            <a:pPr lvl="2"/>
            <a:r>
              <a:rPr lang="en-GB" dirty="0"/>
              <a:t>Finer resolution  is better</a:t>
            </a:r>
          </a:p>
          <a:p>
            <a:pPr lvl="2"/>
            <a:r>
              <a:rPr lang="en-GB" dirty="0"/>
              <a:t>mA better than A, up to a point</a:t>
            </a:r>
          </a:p>
          <a:p>
            <a:pPr lvl="2"/>
            <a:r>
              <a:rPr lang="en-GB" dirty="0"/>
              <a:t>Min 0.5A max 1mA</a:t>
            </a:r>
          </a:p>
        </p:txBody>
      </p:sp>
      <p:pic>
        <p:nvPicPr>
          <p:cNvPr id="6" name="Picture 5"/>
          <p:cNvPicPr>
            <a:picLocks noChangeAspect="1"/>
          </p:cNvPicPr>
          <p:nvPr/>
        </p:nvPicPr>
        <p:blipFill>
          <a:blip r:embed="rId3"/>
          <a:stretch>
            <a:fillRect/>
          </a:stretch>
        </p:blipFill>
        <p:spPr>
          <a:xfrm>
            <a:off x="2649744" y="5057615"/>
            <a:ext cx="1319684" cy="1260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8" name="Picture 7"/>
          <p:cNvPicPr>
            <a:picLocks noChangeAspect="1"/>
          </p:cNvPicPr>
          <p:nvPr/>
        </p:nvPicPr>
        <p:blipFill>
          <a:blip r:embed="rId4"/>
          <a:stretch>
            <a:fillRect/>
          </a:stretch>
        </p:blipFill>
        <p:spPr>
          <a:xfrm>
            <a:off x="10739437" y="3247276"/>
            <a:ext cx="923684" cy="900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Picture 8"/>
          <p:cNvPicPr>
            <a:picLocks noChangeAspect="1"/>
          </p:cNvPicPr>
          <p:nvPr/>
        </p:nvPicPr>
        <p:blipFill>
          <a:blip r:embed="rId5"/>
          <a:stretch>
            <a:fillRect/>
          </a:stretch>
        </p:blipFill>
        <p:spPr>
          <a:xfrm>
            <a:off x="10739437" y="4459165"/>
            <a:ext cx="923684" cy="900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0" name="Picture 9"/>
          <p:cNvPicPr>
            <a:picLocks noChangeAspect="1"/>
          </p:cNvPicPr>
          <p:nvPr/>
        </p:nvPicPr>
        <p:blipFill>
          <a:blip r:embed="rId4"/>
          <a:stretch>
            <a:fillRect/>
          </a:stretch>
        </p:blipFill>
        <p:spPr>
          <a:xfrm>
            <a:off x="10739437" y="5671054"/>
            <a:ext cx="923684" cy="900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2" name="Picture 11"/>
          <p:cNvPicPr>
            <a:picLocks noChangeAspect="1"/>
          </p:cNvPicPr>
          <p:nvPr/>
        </p:nvPicPr>
        <p:blipFill>
          <a:blip r:embed="rId6"/>
          <a:stretch>
            <a:fillRect/>
          </a:stretch>
        </p:blipFill>
        <p:spPr>
          <a:xfrm>
            <a:off x="2649744" y="2617276"/>
            <a:ext cx="1293158" cy="1260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3" name="Picture 12"/>
          <p:cNvPicPr>
            <a:picLocks noChangeAspect="1"/>
          </p:cNvPicPr>
          <p:nvPr/>
        </p:nvPicPr>
        <p:blipFill>
          <a:blip r:embed="rId7"/>
          <a:stretch>
            <a:fillRect/>
          </a:stretch>
        </p:blipFill>
        <p:spPr>
          <a:xfrm>
            <a:off x="10739437" y="2035387"/>
            <a:ext cx="923684" cy="900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6489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0" end="0"/>
                                            </p:txEl>
                                          </p:spTgt>
                                        </p:tgtEl>
                                        <p:attrNameLst>
                                          <p:attrName>style.visibility</p:attrName>
                                        </p:attrNameLst>
                                      </p:cBhvr>
                                      <p:to>
                                        <p:strVal val="visible"/>
                                      </p:to>
                                    </p:set>
                                    <p:animEffect transition="in" filter="fade">
                                      <p:cBhvr>
                                        <p:cTn id="34" dur="500"/>
                                        <p:tgtEl>
                                          <p:spTgt spid="4">
                                            <p:txEl>
                                              <p:pRg st="0" end="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fade">
                                      <p:cBhvr>
                                        <p:cTn id="37" dur="500"/>
                                        <p:tgtEl>
                                          <p:spTgt spid="4">
                                            <p:txEl>
                                              <p:pRg st="1" end="1"/>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2" end="2"/>
                                            </p:txEl>
                                          </p:spTgt>
                                        </p:tgtEl>
                                        <p:attrNameLst>
                                          <p:attrName>style.visibility</p:attrName>
                                        </p:attrNameLst>
                                      </p:cBhvr>
                                      <p:to>
                                        <p:strVal val="visible"/>
                                      </p:to>
                                    </p:set>
                                    <p:animEffect transition="in" filter="fade">
                                      <p:cBhvr>
                                        <p:cTn id="40" dur="500"/>
                                        <p:tgtEl>
                                          <p:spTgt spid="4">
                                            <p:txEl>
                                              <p:pRg st="2" end="2"/>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3" end="3"/>
                                            </p:txEl>
                                          </p:spTgt>
                                        </p:tgtEl>
                                        <p:attrNameLst>
                                          <p:attrName>style.visibility</p:attrName>
                                        </p:attrNameLst>
                                      </p:cBhvr>
                                      <p:to>
                                        <p:strVal val="visible"/>
                                      </p:to>
                                    </p:set>
                                    <p:animEffect transition="in" filter="fade">
                                      <p:cBhvr>
                                        <p:cTn id="43" dur="500"/>
                                        <p:tgtEl>
                                          <p:spTgt spid="4">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7" end="7"/>
                                            </p:txEl>
                                          </p:spTgt>
                                        </p:tgtEl>
                                        <p:attrNameLst>
                                          <p:attrName>style.visibility</p:attrName>
                                        </p:attrNameLst>
                                      </p:cBhvr>
                                      <p:to>
                                        <p:strVal val="visible"/>
                                      </p:to>
                                    </p:set>
                                    <p:animEffect transition="in" filter="fade">
                                      <p:cBhvr>
                                        <p:cTn id="52" dur="500"/>
                                        <p:tgtEl>
                                          <p:spTgt spid="4">
                                            <p:txEl>
                                              <p:pRg st="7" end="7"/>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Effect transition="in" filter="fade">
                                      <p:cBhvr>
                                        <p:cTn id="55" dur="500"/>
                                        <p:tgtEl>
                                          <p:spTgt spid="4">
                                            <p:txEl>
                                              <p:pRg st="8" end="8"/>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
                                            <p:txEl>
                                              <p:pRg st="12" end="12"/>
                                            </p:txEl>
                                          </p:spTgt>
                                        </p:tgtEl>
                                        <p:attrNameLst>
                                          <p:attrName>style.visibility</p:attrName>
                                        </p:attrNameLst>
                                      </p:cBhvr>
                                      <p:to>
                                        <p:strVal val="visible"/>
                                      </p:to>
                                    </p:set>
                                    <p:animEffect transition="in" filter="fade">
                                      <p:cBhvr>
                                        <p:cTn id="64" dur="500"/>
                                        <p:tgtEl>
                                          <p:spTgt spid="4">
                                            <p:txEl>
                                              <p:pRg st="12" end="12"/>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animEffect transition="in" filter="fade">
                                      <p:cBhvr>
                                        <p:cTn id="67" dur="500"/>
                                        <p:tgtEl>
                                          <p:spTgt spid="4">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9"/>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4">
                                            <p:txEl>
                                              <p:pRg st="16" end="16"/>
                                            </p:txEl>
                                          </p:spTgt>
                                        </p:tgtEl>
                                        <p:attrNameLst>
                                          <p:attrName>style.visibility</p:attrName>
                                        </p:attrNameLst>
                                      </p:cBhvr>
                                      <p:to>
                                        <p:strVal val="visible"/>
                                      </p:to>
                                    </p:set>
                                    <p:animEffect transition="in" filter="fade">
                                      <p:cBhvr>
                                        <p:cTn id="76" dur="500"/>
                                        <p:tgtEl>
                                          <p:spTgt spid="4">
                                            <p:txEl>
                                              <p:pRg st="16" end="16"/>
                                            </p:txEl>
                                          </p:spTgt>
                                        </p:tgtEl>
                                      </p:cBhvr>
                                    </p:animEffect>
                                  </p:childTnLst>
                                </p:cTn>
                              </p:par>
                              <p:par>
                                <p:cTn id="77" presetID="10" presetClass="entr" presetSubtype="0" fill="hold" nodeType="with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animEffect transition="in" filter="fade">
                                      <p:cBhvr>
                                        <p:cTn id="79" dur="500"/>
                                        <p:tgtEl>
                                          <p:spTgt spid="4">
                                            <p:txEl>
                                              <p:pRg st="17" end="17"/>
                                            </p:txEl>
                                          </p:spTgt>
                                        </p:tgtEl>
                                      </p:cBhvr>
                                    </p:animEffect>
                                  </p:childTnLst>
                                </p:cTn>
                              </p:par>
                              <p:par>
                                <p:cTn id="80" presetID="10" presetClass="entr" presetSubtype="0" fill="hold" nodeType="withEffect">
                                  <p:stCondLst>
                                    <p:cond delay="0"/>
                                  </p:stCondLst>
                                  <p:childTnLst>
                                    <p:set>
                                      <p:cBhvr>
                                        <p:cTn id="81" dur="1" fill="hold">
                                          <p:stCondLst>
                                            <p:cond delay="0"/>
                                          </p:stCondLst>
                                        </p:cTn>
                                        <p:tgtEl>
                                          <p:spTgt spid="4">
                                            <p:txEl>
                                              <p:pRg st="18" end="18"/>
                                            </p:txEl>
                                          </p:spTgt>
                                        </p:tgtEl>
                                        <p:attrNameLst>
                                          <p:attrName>style.visibility</p:attrName>
                                        </p:attrNameLst>
                                      </p:cBhvr>
                                      <p:to>
                                        <p:strVal val="visible"/>
                                      </p:to>
                                    </p:set>
                                    <p:animEffect transition="in" filter="fade">
                                      <p:cBhvr>
                                        <p:cTn id="82" dur="500"/>
                                        <p:tgtEl>
                                          <p:spTgt spid="4">
                                            <p:txEl>
                                              <p:pRg st="18" end="18"/>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4">
                                            <p:txEl>
                                              <p:pRg st="19" end="19"/>
                                            </p:txEl>
                                          </p:spTgt>
                                        </p:tgtEl>
                                        <p:attrNameLst>
                                          <p:attrName>style.visibility</p:attrName>
                                        </p:attrNameLst>
                                      </p:cBhvr>
                                      <p:to>
                                        <p:strVal val="visible"/>
                                      </p:to>
                                    </p:set>
                                    <p:animEffect transition="in" filter="fade">
                                      <p:cBhvr>
                                        <p:cTn id="85" dur="500"/>
                                        <p:tgtEl>
                                          <p:spTgt spid="4">
                                            <p:txEl>
                                              <p:pRg st="19" end="19"/>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2 – Build MCDM for each Alt.</a:t>
            </a:r>
            <a:br>
              <a:rPr lang="en-GB" dirty="0"/>
            </a:br>
            <a:r>
              <a:rPr lang="en-GB" dirty="0"/>
              <a:t>Current Transformer ex.</a:t>
            </a:r>
          </a:p>
        </p:txBody>
      </p:sp>
      <p:pic>
        <p:nvPicPr>
          <p:cNvPr id="5" name="Picture 4"/>
          <p:cNvPicPr>
            <a:picLocks noChangeAspect="1"/>
          </p:cNvPicPr>
          <p:nvPr/>
        </p:nvPicPr>
        <p:blipFill>
          <a:blip r:embed="rId2"/>
          <a:stretch>
            <a:fillRect/>
          </a:stretch>
        </p:blipFill>
        <p:spPr>
          <a:xfrm>
            <a:off x="1261872" y="1893342"/>
            <a:ext cx="9137650" cy="4266158"/>
          </a:xfrm>
          <a:prstGeom prst="rect">
            <a:avLst/>
          </a:prstGeom>
        </p:spPr>
      </p:pic>
    </p:spTree>
    <p:extLst>
      <p:ext uri="{BB962C8B-B14F-4D97-AF65-F5344CB8AC3E}">
        <p14:creationId xmlns:p14="http://schemas.microsoft.com/office/powerpoint/2010/main" val="1612774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2 – Build MCDM for each Alt.</a:t>
            </a:r>
            <a:br>
              <a:rPr lang="en-GB" dirty="0"/>
            </a:br>
            <a:r>
              <a:rPr lang="en-GB" dirty="0"/>
              <a:t>Current Transformer ex.</a:t>
            </a:r>
          </a:p>
        </p:txBody>
      </p:sp>
      <p:pic>
        <p:nvPicPr>
          <p:cNvPr id="4" name="Picture 3"/>
          <p:cNvPicPr>
            <a:picLocks noChangeAspect="1"/>
          </p:cNvPicPr>
          <p:nvPr/>
        </p:nvPicPr>
        <p:blipFill>
          <a:blip r:embed="rId2"/>
          <a:stretch>
            <a:fillRect/>
          </a:stretch>
        </p:blipFill>
        <p:spPr>
          <a:xfrm>
            <a:off x="2274887" y="2034222"/>
            <a:ext cx="5391255" cy="4266000"/>
          </a:xfrm>
          <a:prstGeom prst="rect">
            <a:avLst/>
          </a:prstGeom>
        </p:spPr>
      </p:pic>
    </p:spTree>
    <p:extLst>
      <p:ext uri="{BB962C8B-B14F-4D97-AF65-F5344CB8AC3E}">
        <p14:creationId xmlns:p14="http://schemas.microsoft.com/office/powerpoint/2010/main" val="2684762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2 – Build MCDM for each Alt.</a:t>
            </a:r>
            <a:br>
              <a:rPr lang="en-GB" dirty="0"/>
            </a:br>
            <a:r>
              <a:rPr lang="en-GB" dirty="0"/>
              <a:t>Current Transformer ex.</a:t>
            </a:r>
          </a:p>
        </p:txBody>
      </p:sp>
      <p:pic>
        <p:nvPicPr>
          <p:cNvPr id="3" name="Picture 2"/>
          <p:cNvPicPr>
            <a:picLocks noChangeAspect="1"/>
          </p:cNvPicPr>
          <p:nvPr/>
        </p:nvPicPr>
        <p:blipFill>
          <a:blip r:embed="rId2"/>
          <a:stretch>
            <a:fillRect/>
          </a:stretch>
        </p:blipFill>
        <p:spPr>
          <a:xfrm>
            <a:off x="2451100" y="2068512"/>
            <a:ext cx="5793156" cy="4266000"/>
          </a:xfrm>
          <a:prstGeom prst="rect">
            <a:avLst/>
          </a:prstGeom>
        </p:spPr>
      </p:pic>
      <p:cxnSp>
        <p:nvCxnSpPr>
          <p:cNvPr id="6" name="Straight Arrow Connector 5"/>
          <p:cNvCxnSpPr/>
          <p:nvPr/>
        </p:nvCxnSpPr>
        <p:spPr>
          <a:xfrm flipV="1">
            <a:off x="1757548" y="4120738"/>
            <a:ext cx="2458192" cy="380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55039" y="4322618"/>
            <a:ext cx="1321196" cy="369332"/>
          </a:xfrm>
          <a:prstGeom prst="rect">
            <a:avLst/>
          </a:prstGeom>
          <a:noFill/>
        </p:spPr>
        <p:txBody>
          <a:bodyPr wrap="none" rtlCol="0">
            <a:spAutoFit/>
          </a:bodyPr>
          <a:lstStyle/>
          <a:p>
            <a:r>
              <a:rPr lang="en-GB" dirty="0"/>
              <a:t>immediate</a:t>
            </a:r>
          </a:p>
        </p:txBody>
      </p:sp>
      <p:cxnSp>
        <p:nvCxnSpPr>
          <p:cNvPr id="10" name="Straight Arrow Connector 9"/>
          <p:cNvCxnSpPr/>
          <p:nvPr/>
        </p:nvCxnSpPr>
        <p:spPr>
          <a:xfrm flipH="1">
            <a:off x="6258296" y="2909959"/>
            <a:ext cx="2778826" cy="1092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9037122" y="2672920"/>
            <a:ext cx="1159292" cy="369332"/>
          </a:xfrm>
          <a:prstGeom prst="rect">
            <a:avLst/>
          </a:prstGeom>
          <a:noFill/>
        </p:spPr>
        <p:txBody>
          <a:bodyPr wrap="none" rtlCol="0">
            <a:spAutoFit/>
          </a:bodyPr>
          <a:lstStyle/>
          <a:p>
            <a:r>
              <a:rPr lang="en-GB" dirty="0"/>
              <a:t>12 weeks</a:t>
            </a:r>
          </a:p>
        </p:txBody>
      </p:sp>
    </p:spTree>
    <p:extLst>
      <p:ext uri="{BB962C8B-B14F-4D97-AF65-F5344CB8AC3E}">
        <p14:creationId xmlns:p14="http://schemas.microsoft.com/office/powerpoint/2010/main" val="309422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3 – Compare Scores</a:t>
            </a:r>
            <a:br>
              <a:rPr lang="en-GB" dirty="0"/>
            </a:br>
            <a:endParaRPr lang="en-GB" dirty="0"/>
          </a:p>
        </p:txBody>
      </p:sp>
      <p:pic>
        <p:nvPicPr>
          <p:cNvPr id="6" name="Picture 5"/>
          <p:cNvPicPr>
            <a:picLocks noChangeAspect="1"/>
          </p:cNvPicPr>
          <p:nvPr/>
        </p:nvPicPr>
        <p:blipFill>
          <a:blip r:embed="rId2"/>
          <a:stretch>
            <a:fillRect/>
          </a:stretch>
        </p:blipFill>
        <p:spPr>
          <a:xfrm>
            <a:off x="431532" y="1180898"/>
            <a:ext cx="5438775" cy="19907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 name="Picture 3"/>
          <p:cNvPicPr>
            <a:picLocks noChangeAspect="1"/>
          </p:cNvPicPr>
          <p:nvPr/>
        </p:nvPicPr>
        <p:blipFill>
          <a:blip r:embed="rId3"/>
          <a:stretch>
            <a:fillRect/>
          </a:stretch>
        </p:blipFill>
        <p:spPr>
          <a:xfrm>
            <a:off x="2888259" y="3000398"/>
            <a:ext cx="5419725" cy="19621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p:cNvPicPr>
            <a:picLocks noChangeAspect="1"/>
          </p:cNvPicPr>
          <p:nvPr/>
        </p:nvPicPr>
        <p:blipFill>
          <a:blip r:embed="rId4"/>
          <a:stretch>
            <a:fillRect/>
          </a:stretch>
        </p:blipFill>
        <p:spPr>
          <a:xfrm>
            <a:off x="5653541" y="4791323"/>
            <a:ext cx="5419725" cy="19716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9" name="Straight Arrow Connector 8"/>
          <p:cNvCxnSpPr/>
          <p:nvPr/>
        </p:nvCxnSpPr>
        <p:spPr>
          <a:xfrm flipV="1">
            <a:off x="1686296" y="3171623"/>
            <a:ext cx="1567543" cy="187539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84001" y="5047013"/>
            <a:ext cx="1786066" cy="646331"/>
          </a:xfrm>
          <a:prstGeom prst="rect">
            <a:avLst/>
          </a:prstGeom>
          <a:noFill/>
        </p:spPr>
        <p:txBody>
          <a:bodyPr wrap="none" rtlCol="0">
            <a:spAutoFit/>
          </a:bodyPr>
          <a:lstStyle/>
          <a:p>
            <a:r>
              <a:rPr lang="en-GB" dirty="0"/>
              <a:t>Scaled by 10^6</a:t>
            </a:r>
          </a:p>
          <a:p>
            <a:r>
              <a:rPr lang="en-GB" dirty="0"/>
              <a:t>to aid legibility</a:t>
            </a:r>
          </a:p>
        </p:txBody>
      </p:sp>
      <p:cxnSp>
        <p:nvCxnSpPr>
          <p:cNvPr id="11" name="Straight Arrow Connector 10"/>
          <p:cNvCxnSpPr/>
          <p:nvPr/>
        </p:nvCxnSpPr>
        <p:spPr>
          <a:xfrm flipH="1" flipV="1">
            <a:off x="4560125" y="1270661"/>
            <a:ext cx="4483163" cy="60301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9105867" y="1550507"/>
            <a:ext cx="2140065" cy="1200329"/>
          </a:xfrm>
          <a:prstGeom prst="rect">
            <a:avLst/>
          </a:prstGeom>
          <a:noFill/>
        </p:spPr>
        <p:txBody>
          <a:bodyPr wrap="square" rtlCol="0">
            <a:spAutoFit/>
          </a:bodyPr>
          <a:lstStyle/>
          <a:p>
            <a:r>
              <a:rPr lang="en-GB" dirty="0"/>
              <a:t>Best technology type based on criteria and utility functions</a:t>
            </a:r>
          </a:p>
        </p:txBody>
      </p:sp>
    </p:spTree>
    <p:extLst>
      <p:ext uri="{BB962C8B-B14F-4D97-AF65-F5344CB8AC3E}">
        <p14:creationId xmlns:p14="http://schemas.microsoft.com/office/powerpoint/2010/main" val="274103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12"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1+#ppt_w/2"/>
                                          </p:val>
                                        </p:tav>
                                        <p:tav tm="100000">
                                          <p:val>
                                            <p:strVal val="#ppt_x"/>
                                          </p:val>
                                        </p:tav>
                                      </p:tavLst>
                                    </p:anim>
                                    <p:anim calcmode="lin" valueType="num">
                                      <p:cBhvr additive="base">
                                        <p:cTn id="2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Selecting the sensor</a:t>
            </a:r>
          </a:p>
        </p:txBody>
      </p:sp>
      <p:sp>
        <p:nvSpPr>
          <p:cNvPr id="3" name="Content Placeholder 2"/>
          <p:cNvSpPr>
            <a:spLocks noGrp="1"/>
          </p:cNvSpPr>
          <p:nvPr>
            <p:ph idx="1"/>
          </p:nvPr>
        </p:nvSpPr>
        <p:spPr/>
        <p:txBody>
          <a:bodyPr/>
          <a:lstStyle/>
          <a:p>
            <a:r>
              <a:rPr lang="en-GB" dirty="0"/>
              <a:t>Technology type is HALL Effect</a:t>
            </a:r>
          </a:p>
          <a:p>
            <a:r>
              <a:rPr lang="en-GB" dirty="0"/>
              <a:t>Search part catalogues</a:t>
            </a:r>
          </a:p>
          <a:p>
            <a:pPr lvl="1"/>
            <a:r>
              <a:rPr lang="en-GB" dirty="0"/>
              <a:t>RS Components</a:t>
            </a:r>
          </a:p>
          <a:p>
            <a:pPr lvl="1"/>
            <a:r>
              <a:rPr lang="en-GB" dirty="0"/>
              <a:t>MOUSER</a:t>
            </a:r>
          </a:p>
          <a:p>
            <a:pPr lvl="1"/>
            <a:r>
              <a:rPr lang="en-GB" dirty="0" err="1"/>
              <a:t>Digikey</a:t>
            </a:r>
            <a:endParaRPr lang="en-GB" dirty="0"/>
          </a:p>
          <a:p>
            <a:pPr lvl="1"/>
            <a:r>
              <a:rPr lang="en-GB" dirty="0" err="1"/>
              <a:t>Octopart</a:t>
            </a:r>
            <a:endParaRPr lang="en-GB" dirty="0"/>
          </a:p>
          <a:p>
            <a:pPr lvl="1"/>
            <a:r>
              <a:rPr lang="en-GB" dirty="0" err="1"/>
              <a:t>Mantech</a:t>
            </a:r>
            <a:r>
              <a:rPr lang="en-GB" dirty="0"/>
              <a:t>, </a:t>
            </a:r>
            <a:r>
              <a:rPr lang="en-GB" dirty="0" err="1"/>
              <a:t>Electrocomp</a:t>
            </a:r>
            <a:r>
              <a:rPr lang="en-GB" dirty="0"/>
              <a:t>, CST Electronics, Arrow, </a:t>
            </a:r>
            <a:r>
              <a:rPr lang="en-GB" dirty="0" err="1"/>
              <a:t>Altech</a:t>
            </a:r>
            <a:endParaRPr lang="en-GB" dirty="0"/>
          </a:p>
        </p:txBody>
      </p:sp>
      <p:pic>
        <p:nvPicPr>
          <p:cNvPr id="5" name="Picture 4"/>
          <p:cNvPicPr>
            <a:picLocks noChangeAspect="1"/>
          </p:cNvPicPr>
          <p:nvPr/>
        </p:nvPicPr>
        <p:blipFill>
          <a:blip r:embed="rId2"/>
          <a:stretch>
            <a:fillRect/>
          </a:stretch>
        </p:blipFill>
        <p:spPr>
          <a:xfrm>
            <a:off x="7350826" y="1258785"/>
            <a:ext cx="2910444" cy="2910444"/>
          </a:xfrm>
          <a:prstGeom prst="rect">
            <a:avLst/>
          </a:prstGeom>
        </p:spPr>
      </p:pic>
      <p:pic>
        <p:nvPicPr>
          <p:cNvPr id="3074" name="Picture 2" descr="Goo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834" y="4719394"/>
            <a:ext cx="5181600" cy="1752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423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74584" y="2313678"/>
            <a:ext cx="8745256" cy="400127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 name="Title 1"/>
          <p:cNvSpPr>
            <a:spLocks noGrp="1"/>
          </p:cNvSpPr>
          <p:nvPr>
            <p:ph type="title"/>
          </p:nvPr>
        </p:nvSpPr>
        <p:spPr/>
        <p:txBody>
          <a:bodyPr/>
          <a:lstStyle/>
          <a:p>
            <a:r>
              <a:rPr lang="en-GB" dirty="0"/>
              <a:t>Selecting the sensor</a:t>
            </a:r>
          </a:p>
        </p:txBody>
      </p:sp>
      <p:sp>
        <p:nvSpPr>
          <p:cNvPr id="10" name="Content Placeholder 9"/>
          <p:cNvSpPr>
            <a:spLocks noGrp="1"/>
          </p:cNvSpPr>
          <p:nvPr>
            <p:ph idx="1"/>
          </p:nvPr>
        </p:nvSpPr>
        <p:spPr/>
        <p:txBody>
          <a:bodyPr/>
          <a:lstStyle/>
          <a:p>
            <a:r>
              <a:rPr lang="en-GB" dirty="0"/>
              <a:t>Which sensor to select?</a:t>
            </a:r>
          </a:p>
          <a:p>
            <a:r>
              <a:rPr lang="en-GB" dirty="0"/>
              <a:t>Cheapest? Most accessible? Technically superior?</a:t>
            </a:r>
          </a:p>
          <a:p>
            <a:r>
              <a:rPr lang="en-GB" dirty="0"/>
              <a:t>Compile a MCDM for each sensor</a:t>
            </a:r>
          </a:p>
          <a:p>
            <a:pPr lvl="1"/>
            <a:r>
              <a:rPr lang="en-GB" dirty="0"/>
              <a:t>Include part and delivery cost</a:t>
            </a:r>
          </a:p>
          <a:p>
            <a:pPr lvl="1"/>
            <a:r>
              <a:rPr lang="en-GB" dirty="0"/>
              <a:t>Lead time / Delivery time</a:t>
            </a:r>
          </a:p>
          <a:p>
            <a:pPr lvl="1"/>
            <a:r>
              <a:rPr lang="en-GB" dirty="0"/>
              <a:t>Peruse datasheets to determine implementation complexity</a:t>
            </a:r>
          </a:p>
          <a:p>
            <a:pPr lvl="1"/>
            <a:endParaRPr lang="en-GB" dirty="0"/>
          </a:p>
          <a:p>
            <a:r>
              <a:rPr lang="en-GB" dirty="0"/>
              <a:t>Possible criteria</a:t>
            </a:r>
          </a:p>
          <a:p>
            <a:pPr lvl="1"/>
            <a:r>
              <a:rPr lang="en-GB" dirty="0"/>
              <a:t>Very similar to broad technology type trade</a:t>
            </a:r>
          </a:p>
          <a:p>
            <a:pPr lvl="1"/>
            <a:r>
              <a:rPr lang="en-GB" dirty="0"/>
              <a:t>Adjustment of ranges based on available parts</a:t>
            </a:r>
          </a:p>
          <a:p>
            <a:pPr lvl="1"/>
            <a:r>
              <a:rPr lang="en-GB" dirty="0"/>
              <a:t>Implementation details (discrete selection)</a:t>
            </a:r>
          </a:p>
          <a:p>
            <a:pPr lvl="2"/>
            <a:r>
              <a:rPr lang="en-GB" dirty="0"/>
              <a:t>Only part in question, other components such as buffers, interface logic, etc.</a:t>
            </a:r>
          </a:p>
        </p:txBody>
      </p:sp>
      <p:pic>
        <p:nvPicPr>
          <p:cNvPr id="5" name="Picture 4"/>
          <p:cNvPicPr>
            <a:picLocks noChangeAspect="1"/>
          </p:cNvPicPr>
          <p:nvPr/>
        </p:nvPicPr>
        <p:blipFill>
          <a:blip r:embed="rId3"/>
          <a:stretch>
            <a:fillRect/>
          </a:stretch>
        </p:blipFill>
        <p:spPr>
          <a:xfrm>
            <a:off x="4287661" y="1461821"/>
            <a:ext cx="3912216" cy="258129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Picture 5"/>
          <p:cNvPicPr>
            <a:picLocks noChangeAspect="1"/>
          </p:cNvPicPr>
          <p:nvPr/>
        </p:nvPicPr>
        <p:blipFill>
          <a:blip r:embed="rId4"/>
          <a:stretch>
            <a:fillRect/>
          </a:stretch>
        </p:blipFill>
        <p:spPr>
          <a:xfrm>
            <a:off x="3422263" y="4394751"/>
            <a:ext cx="4500988" cy="223683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Picture 6"/>
          <p:cNvPicPr>
            <a:picLocks noChangeAspect="1"/>
          </p:cNvPicPr>
          <p:nvPr/>
        </p:nvPicPr>
        <p:blipFill rotWithShape="1">
          <a:blip r:embed="rId5"/>
          <a:srcRect r="39881"/>
          <a:stretch/>
        </p:blipFill>
        <p:spPr>
          <a:xfrm>
            <a:off x="146751" y="378151"/>
            <a:ext cx="5032907" cy="254885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Picture 8"/>
          <p:cNvPicPr>
            <a:picLocks noChangeAspect="1"/>
          </p:cNvPicPr>
          <p:nvPr/>
        </p:nvPicPr>
        <p:blipFill>
          <a:blip r:embed="rId6"/>
          <a:stretch>
            <a:fillRect/>
          </a:stretch>
        </p:blipFill>
        <p:spPr>
          <a:xfrm>
            <a:off x="7180544" y="3374823"/>
            <a:ext cx="4844986" cy="325675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8" name="Picture 7"/>
          <p:cNvPicPr>
            <a:picLocks noChangeAspect="1"/>
          </p:cNvPicPr>
          <p:nvPr/>
        </p:nvPicPr>
        <p:blipFill>
          <a:blip r:embed="rId7"/>
          <a:stretch>
            <a:fillRect/>
          </a:stretch>
        </p:blipFill>
        <p:spPr>
          <a:xfrm>
            <a:off x="8313110" y="157652"/>
            <a:ext cx="3756523" cy="35390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4653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AF725-647C-C7D5-0A58-E2AF42B3D131}"/>
              </a:ext>
            </a:extLst>
          </p:cNvPr>
          <p:cNvSpPr>
            <a:spLocks noGrp="1"/>
          </p:cNvSpPr>
          <p:nvPr>
            <p:ph type="title"/>
          </p:nvPr>
        </p:nvSpPr>
        <p:spPr>
          <a:xfrm>
            <a:off x="6420464" y="539087"/>
            <a:ext cx="4534047" cy="1584895"/>
          </a:xfrm>
        </p:spPr>
        <p:txBody>
          <a:bodyPr>
            <a:normAutofit/>
          </a:bodyPr>
          <a:lstStyle/>
          <a:p>
            <a:r>
              <a:rPr lang="en-ZA" dirty="0"/>
              <a:t>Alternatives</a:t>
            </a:r>
          </a:p>
        </p:txBody>
      </p:sp>
      <p:pic>
        <p:nvPicPr>
          <p:cNvPr id="4" name="Picture 3">
            <a:extLst>
              <a:ext uri="{FF2B5EF4-FFF2-40B4-BE49-F238E27FC236}">
                <a16:creationId xmlns:a16="http://schemas.microsoft.com/office/drawing/2014/main" id="{DC86F059-EE32-4EC6-13E6-DD5F45FA1557}"/>
              </a:ext>
            </a:extLst>
          </p:cNvPr>
          <p:cNvPicPr>
            <a:picLocks noChangeAspect="1"/>
          </p:cNvPicPr>
          <p:nvPr/>
        </p:nvPicPr>
        <p:blipFill rotWithShape="1">
          <a:blip r:embed="rId3"/>
          <a:srcRect l="5990" r="5138"/>
          <a:stretch/>
        </p:blipFill>
        <p:spPr>
          <a:xfrm>
            <a:off x="20" y="10"/>
            <a:ext cx="6094799" cy="6857990"/>
          </a:xfrm>
          <a:prstGeom prst="rect">
            <a:avLst/>
          </a:prstGeom>
        </p:spPr>
      </p:pic>
      <p:sp>
        <p:nvSpPr>
          <p:cNvPr id="3" name="Content Placeholder 2">
            <a:extLst>
              <a:ext uri="{FF2B5EF4-FFF2-40B4-BE49-F238E27FC236}">
                <a16:creationId xmlns:a16="http://schemas.microsoft.com/office/drawing/2014/main" id="{E0C2DD13-9D5D-A71C-7494-EA5A357B1BE2}"/>
              </a:ext>
            </a:extLst>
          </p:cNvPr>
          <p:cNvSpPr>
            <a:spLocks noGrp="1"/>
          </p:cNvSpPr>
          <p:nvPr>
            <p:ph idx="1"/>
          </p:nvPr>
        </p:nvSpPr>
        <p:spPr>
          <a:xfrm>
            <a:off x="6420463" y="2438399"/>
            <a:ext cx="4572002" cy="3880514"/>
          </a:xfrm>
        </p:spPr>
        <p:txBody>
          <a:bodyPr>
            <a:normAutofit/>
          </a:bodyPr>
          <a:lstStyle/>
          <a:p>
            <a:r>
              <a:rPr lang="en-ZA" sz="2000" dirty="0"/>
              <a:t>Algorithm development</a:t>
            </a:r>
          </a:p>
          <a:p>
            <a:r>
              <a:rPr lang="en-ZA" sz="2000" dirty="0"/>
              <a:t>Embedded system development</a:t>
            </a:r>
          </a:p>
          <a:p>
            <a:r>
              <a:rPr lang="en-ZA" sz="2000" dirty="0"/>
              <a:t>Electronics development</a:t>
            </a:r>
          </a:p>
          <a:p>
            <a:r>
              <a:rPr lang="en-ZA" sz="2000" dirty="0"/>
              <a:t>Mechanical development</a:t>
            </a:r>
          </a:p>
          <a:p>
            <a:r>
              <a:rPr lang="en-ZA" sz="2000" dirty="0"/>
              <a:t>Software development</a:t>
            </a:r>
          </a:p>
        </p:txBody>
      </p:sp>
    </p:spTree>
    <p:extLst>
      <p:ext uri="{BB962C8B-B14F-4D97-AF65-F5344CB8AC3E}">
        <p14:creationId xmlns:p14="http://schemas.microsoft.com/office/powerpoint/2010/main" val="9792535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31B28-FBB8-3823-3C2F-4128F82ED154}"/>
              </a:ext>
            </a:extLst>
          </p:cNvPr>
          <p:cNvSpPr>
            <a:spLocks noGrp="1"/>
          </p:cNvSpPr>
          <p:nvPr>
            <p:ph type="title"/>
          </p:nvPr>
        </p:nvSpPr>
        <p:spPr>
          <a:xfrm>
            <a:off x="4965290" y="640079"/>
            <a:ext cx="5997678" cy="1363345"/>
          </a:xfrm>
        </p:spPr>
        <p:txBody>
          <a:bodyPr>
            <a:normAutofit/>
          </a:bodyPr>
          <a:lstStyle/>
          <a:p>
            <a:r>
              <a:rPr lang="en-ZA" dirty="0"/>
              <a:t>Algorithm Development</a:t>
            </a:r>
          </a:p>
        </p:txBody>
      </p:sp>
      <p:pic>
        <p:nvPicPr>
          <p:cNvPr id="4" name="Picture 3">
            <a:extLst>
              <a:ext uri="{FF2B5EF4-FFF2-40B4-BE49-F238E27FC236}">
                <a16:creationId xmlns:a16="http://schemas.microsoft.com/office/drawing/2014/main" id="{D979B0A0-43A0-B58F-36C8-BD57EF5C7DBA}"/>
              </a:ext>
            </a:extLst>
          </p:cNvPr>
          <p:cNvPicPr>
            <a:picLocks noChangeAspect="1"/>
          </p:cNvPicPr>
          <p:nvPr/>
        </p:nvPicPr>
        <p:blipFill rotWithShape="1">
          <a:blip r:embed="rId3"/>
          <a:srcRect l="16413" r="15393" b="21156"/>
          <a:stretch/>
        </p:blipFill>
        <p:spPr>
          <a:xfrm>
            <a:off x="621678" y="419876"/>
            <a:ext cx="4343612" cy="5417252"/>
          </a:xfrm>
          <a:prstGeom prst="rect">
            <a:avLst/>
          </a:prstGeom>
        </p:spPr>
      </p:pic>
      <p:sp>
        <p:nvSpPr>
          <p:cNvPr id="3" name="Content Placeholder 2">
            <a:extLst>
              <a:ext uri="{FF2B5EF4-FFF2-40B4-BE49-F238E27FC236}">
                <a16:creationId xmlns:a16="http://schemas.microsoft.com/office/drawing/2014/main" id="{BF74FF79-0F07-4102-8117-2553DF31A522}"/>
              </a:ext>
            </a:extLst>
          </p:cNvPr>
          <p:cNvSpPr>
            <a:spLocks noGrp="1"/>
          </p:cNvSpPr>
          <p:nvPr>
            <p:ph idx="1"/>
          </p:nvPr>
        </p:nvSpPr>
        <p:spPr>
          <a:xfrm>
            <a:off x="4965290" y="2325158"/>
            <a:ext cx="6015571" cy="3854979"/>
          </a:xfrm>
        </p:spPr>
        <p:txBody>
          <a:bodyPr>
            <a:normAutofit lnSpcReduction="10000"/>
          </a:bodyPr>
          <a:lstStyle/>
          <a:p>
            <a:r>
              <a:rPr lang="en-ZA" sz="1500"/>
              <a:t>System level</a:t>
            </a:r>
          </a:p>
          <a:p>
            <a:pPr lvl="1"/>
            <a:r>
              <a:rPr lang="en-ZA" sz="1500"/>
              <a:t>Which algorithms are suitable</a:t>
            </a:r>
          </a:p>
          <a:p>
            <a:pPr lvl="1"/>
            <a:r>
              <a:rPr lang="en-ZA" sz="1500"/>
              <a:t>Availability of development tools</a:t>
            </a:r>
          </a:p>
          <a:p>
            <a:pPr lvl="1"/>
            <a:r>
              <a:rPr lang="en-ZA" sz="1500"/>
              <a:t>Resource requirements</a:t>
            </a:r>
          </a:p>
          <a:p>
            <a:r>
              <a:rPr lang="en-ZA" sz="1500"/>
              <a:t>Component level</a:t>
            </a:r>
          </a:p>
          <a:p>
            <a:pPr lvl="1"/>
            <a:r>
              <a:rPr lang="en-ZA" sz="1500"/>
              <a:t>Implementation performance</a:t>
            </a:r>
          </a:p>
          <a:p>
            <a:pPr lvl="1"/>
            <a:r>
              <a:rPr lang="en-ZA" sz="1500"/>
              <a:t>Implementation constraints</a:t>
            </a:r>
          </a:p>
          <a:p>
            <a:pPr lvl="1"/>
            <a:endParaRPr lang="en-ZA" sz="1500"/>
          </a:p>
          <a:p>
            <a:r>
              <a:rPr lang="en-ZA" sz="1500"/>
              <a:t>Metrics to consider</a:t>
            </a:r>
          </a:p>
          <a:p>
            <a:pPr lvl="1"/>
            <a:r>
              <a:rPr lang="en-ZA" sz="1500"/>
              <a:t>Stand-alone / cloud-based</a:t>
            </a:r>
          </a:p>
          <a:p>
            <a:pPr lvl="1"/>
            <a:r>
              <a:rPr lang="en-ZA" sz="1500"/>
              <a:t>Computational resource requirements</a:t>
            </a:r>
          </a:p>
          <a:p>
            <a:pPr lvl="1"/>
            <a:r>
              <a:rPr lang="en-ZA" sz="1500"/>
              <a:t>Development requirements</a:t>
            </a:r>
          </a:p>
          <a:p>
            <a:pPr lvl="1"/>
            <a:r>
              <a:rPr lang="en-ZA" sz="1500"/>
              <a:t>Developer experience (don’t over emphasise)</a:t>
            </a:r>
          </a:p>
        </p:txBody>
      </p:sp>
    </p:spTree>
    <p:extLst>
      <p:ext uri="{BB962C8B-B14F-4D97-AF65-F5344CB8AC3E}">
        <p14:creationId xmlns:p14="http://schemas.microsoft.com/office/powerpoint/2010/main" val="3101001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31B28-FBB8-3823-3C2F-4128F82ED154}"/>
              </a:ext>
            </a:extLst>
          </p:cNvPr>
          <p:cNvSpPr>
            <a:spLocks noGrp="1"/>
          </p:cNvSpPr>
          <p:nvPr>
            <p:ph type="title"/>
          </p:nvPr>
        </p:nvSpPr>
        <p:spPr>
          <a:xfrm>
            <a:off x="718874" y="677863"/>
            <a:ext cx="4534047" cy="1325562"/>
          </a:xfrm>
        </p:spPr>
        <p:txBody>
          <a:bodyPr>
            <a:normAutofit/>
          </a:bodyPr>
          <a:lstStyle/>
          <a:p>
            <a:r>
              <a:rPr lang="en-ZA" sz="3700"/>
              <a:t>Embedded System Development</a:t>
            </a:r>
          </a:p>
        </p:txBody>
      </p:sp>
      <p:sp>
        <p:nvSpPr>
          <p:cNvPr id="3" name="Content Placeholder 2">
            <a:extLst>
              <a:ext uri="{FF2B5EF4-FFF2-40B4-BE49-F238E27FC236}">
                <a16:creationId xmlns:a16="http://schemas.microsoft.com/office/drawing/2014/main" id="{BF74FF79-0F07-4102-8117-2553DF31A522}"/>
              </a:ext>
            </a:extLst>
          </p:cNvPr>
          <p:cNvSpPr>
            <a:spLocks noGrp="1"/>
          </p:cNvSpPr>
          <p:nvPr>
            <p:ph idx="1"/>
          </p:nvPr>
        </p:nvSpPr>
        <p:spPr>
          <a:xfrm>
            <a:off x="718874" y="2325158"/>
            <a:ext cx="4534048" cy="3854979"/>
          </a:xfrm>
        </p:spPr>
        <p:txBody>
          <a:bodyPr>
            <a:normAutofit fontScale="92500" lnSpcReduction="10000"/>
          </a:bodyPr>
          <a:lstStyle/>
          <a:p>
            <a:r>
              <a:rPr lang="en-ZA" sz="1300"/>
              <a:t>System level</a:t>
            </a:r>
          </a:p>
          <a:p>
            <a:pPr lvl="1"/>
            <a:r>
              <a:rPr lang="en-ZA" sz="1300"/>
              <a:t>Device classes (8/16/32/+ bit systems)</a:t>
            </a:r>
          </a:p>
          <a:p>
            <a:pPr lvl="1"/>
            <a:r>
              <a:rPr lang="en-ZA" sz="1300"/>
              <a:t>Microcontroller vs Single Board computer vs Industrial PC vs PLC</a:t>
            </a:r>
          </a:p>
          <a:p>
            <a:pPr lvl="1"/>
            <a:r>
              <a:rPr lang="en-ZA" sz="1300"/>
              <a:t>Operating system / bare metal</a:t>
            </a:r>
          </a:p>
          <a:p>
            <a:pPr lvl="1"/>
            <a:r>
              <a:rPr lang="en-ZA" sz="1300"/>
              <a:t>Computational requirements (missile flight controller vs washing machine)</a:t>
            </a:r>
          </a:p>
          <a:p>
            <a:r>
              <a:rPr lang="en-ZA" sz="1300"/>
              <a:t>Component level</a:t>
            </a:r>
          </a:p>
          <a:p>
            <a:pPr lvl="1"/>
            <a:r>
              <a:rPr lang="en-ZA" sz="1300"/>
              <a:t>Specific parts</a:t>
            </a:r>
          </a:p>
          <a:p>
            <a:pPr lvl="1"/>
            <a:r>
              <a:rPr lang="en-ZA" sz="1300"/>
              <a:t>Pin counts, external component requirements</a:t>
            </a:r>
          </a:p>
          <a:p>
            <a:pPr lvl="1"/>
            <a:r>
              <a:rPr lang="en-ZA" sz="1300"/>
              <a:t>IO levels</a:t>
            </a:r>
          </a:p>
          <a:p>
            <a:r>
              <a:rPr lang="en-ZA" sz="1300"/>
              <a:t>Metrics to consider</a:t>
            </a:r>
          </a:p>
          <a:p>
            <a:pPr lvl="1"/>
            <a:r>
              <a:rPr lang="en-ZA" sz="1300"/>
              <a:t>Must be specific enough to make a decision. Comparing a Raspberry Pi to an Arduino doesn’t make sense.</a:t>
            </a:r>
          </a:p>
          <a:p>
            <a:pPr lvl="1"/>
            <a:r>
              <a:rPr lang="en-ZA" sz="1300"/>
              <a:t>Raspberry Pi to a Banana Pi and Orange Pi, and Beagle does. </a:t>
            </a:r>
          </a:p>
        </p:txBody>
      </p:sp>
      <p:pic>
        <p:nvPicPr>
          <p:cNvPr id="5" name="Picture 4">
            <a:extLst>
              <a:ext uri="{FF2B5EF4-FFF2-40B4-BE49-F238E27FC236}">
                <a16:creationId xmlns:a16="http://schemas.microsoft.com/office/drawing/2014/main" id="{E01A32FF-367B-897B-2DC2-D44F58678B88}"/>
              </a:ext>
            </a:extLst>
          </p:cNvPr>
          <p:cNvPicPr>
            <a:picLocks noChangeAspect="1"/>
          </p:cNvPicPr>
          <p:nvPr/>
        </p:nvPicPr>
        <p:blipFill>
          <a:blip r:embed="rId2"/>
          <a:stretch>
            <a:fillRect/>
          </a:stretch>
        </p:blipFill>
        <p:spPr>
          <a:xfrm>
            <a:off x="5633157" y="824005"/>
            <a:ext cx="5209989" cy="5209989"/>
          </a:xfrm>
          <a:prstGeom prst="rect">
            <a:avLst/>
          </a:prstGeom>
        </p:spPr>
      </p:pic>
    </p:spTree>
    <p:extLst>
      <p:ext uri="{BB962C8B-B14F-4D97-AF65-F5344CB8AC3E}">
        <p14:creationId xmlns:p14="http://schemas.microsoft.com/office/powerpoint/2010/main" val="23555327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631B28-FBB8-3823-3C2F-4128F82ED154}"/>
              </a:ext>
            </a:extLst>
          </p:cNvPr>
          <p:cNvSpPr>
            <a:spLocks noGrp="1"/>
          </p:cNvSpPr>
          <p:nvPr>
            <p:ph type="title"/>
          </p:nvPr>
        </p:nvSpPr>
        <p:spPr>
          <a:xfrm>
            <a:off x="566058" y="836023"/>
            <a:ext cx="2718788" cy="5183777"/>
          </a:xfrm>
        </p:spPr>
        <p:txBody>
          <a:bodyPr anchor="ctr">
            <a:normAutofit/>
          </a:bodyPr>
          <a:lstStyle/>
          <a:p>
            <a:r>
              <a:rPr lang="en-ZA" sz="3300">
                <a:solidFill>
                  <a:srgbClr val="FFFFFF"/>
                </a:solidFill>
              </a:rPr>
              <a:t>Software System Development</a:t>
            </a:r>
          </a:p>
        </p:txBody>
      </p:sp>
      <p:sp>
        <p:nvSpPr>
          <p:cNvPr id="11" name="Rectangle 10">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aphicFrame>
        <p:nvGraphicFramePr>
          <p:cNvPr id="5" name="Content Placeholder 2">
            <a:extLst>
              <a:ext uri="{FF2B5EF4-FFF2-40B4-BE49-F238E27FC236}">
                <a16:creationId xmlns:a16="http://schemas.microsoft.com/office/drawing/2014/main" id="{E0AADAFD-74B2-8DF3-4DBE-E03A781B6624}"/>
              </a:ext>
            </a:extLst>
          </p:cNvPr>
          <p:cNvGraphicFramePr>
            <a:graphicFrameLocks noGrp="1"/>
          </p:cNvGraphicFramePr>
          <p:nvPr>
            <p:ph idx="1"/>
            <p:extLst>
              <p:ext uri="{D42A27DB-BD31-4B8C-83A1-F6EECF244321}">
                <p14:modId xmlns:p14="http://schemas.microsoft.com/office/powerpoint/2010/main" val="3104281301"/>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83454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78109-D229-12CE-FD28-8F5E3C2C1373}"/>
              </a:ext>
            </a:extLst>
          </p:cNvPr>
          <p:cNvSpPr>
            <a:spLocks noGrp="1"/>
          </p:cNvSpPr>
          <p:nvPr>
            <p:ph type="title"/>
          </p:nvPr>
        </p:nvSpPr>
        <p:spPr/>
        <p:txBody>
          <a:bodyPr/>
          <a:lstStyle/>
          <a:p>
            <a:r>
              <a:rPr lang="en-ZA" dirty="0"/>
              <a:t>Remember</a:t>
            </a:r>
          </a:p>
        </p:txBody>
      </p:sp>
      <p:sp>
        <p:nvSpPr>
          <p:cNvPr id="3" name="Content Placeholder 2">
            <a:extLst>
              <a:ext uri="{FF2B5EF4-FFF2-40B4-BE49-F238E27FC236}">
                <a16:creationId xmlns:a16="http://schemas.microsoft.com/office/drawing/2014/main" id="{E82FADE8-590E-15EF-D82C-F2714E073A74}"/>
              </a:ext>
            </a:extLst>
          </p:cNvPr>
          <p:cNvSpPr>
            <a:spLocks noGrp="1"/>
          </p:cNvSpPr>
          <p:nvPr>
            <p:ph idx="1"/>
          </p:nvPr>
        </p:nvSpPr>
        <p:spPr/>
        <p:txBody>
          <a:bodyPr/>
          <a:lstStyle/>
          <a:p>
            <a:r>
              <a:rPr lang="en-ZA" dirty="0"/>
              <a:t>Any choice is based on a set of criteria (documented or not)</a:t>
            </a:r>
          </a:p>
          <a:p>
            <a:r>
              <a:rPr lang="en-ZA" dirty="0"/>
              <a:t>Engineering design requires</a:t>
            </a:r>
          </a:p>
          <a:p>
            <a:pPr lvl="1"/>
            <a:r>
              <a:rPr lang="en-ZA" dirty="0"/>
              <a:t>Selection of criteria (possibly defence of…)</a:t>
            </a:r>
          </a:p>
          <a:p>
            <a:pPr lvl="1"/>
            <a:r>
              <a:rPr lang="en-ZA" dirty="0"/>
              <a:t>Identification of scores (a fair ruler, and justification of…)</a:t>
            </a:r>
          </a:p>
          <a:p>
            <a:pPr lvl="1"/>
            <a:r>
              <a:rPr lang="en-ZA" dirty="0"/>
              <a:t>Documentation of the process</a:t>
            </a:r>
          </a:p>
          <a:p>
            <a:pPr lvl="1"/>
            <a:endParaRPr lang="en-ZA" dirty="0"/>
          </a:p>
          <a:p>
            <a:pPr marL="0" indent="0" algn="ctr">
              <a:buNone/>
            </a:pPr>
            <a:r>
              <a:rPr lang="en-ZA" sz="2400" dirty="0">
                <a:solidFill>
                  <a:srgbClr val="FF0000"/>
                </a:solidFill>
              </a:rPr>
              <a:t>Performing the MCDM process on an invalid design choice (such as STM32 vs Arduino MCUs, or DC motor vs Induction motor) is of no use and </a:t>
            </a:r>
            <a:r>
              <a:rPr lang="en-ZA" sz="2400" b="1" dirty="0">
                <a:solidFill>
                  <a:srgbClr val="FF0000"/>
                </a:solidFill>
              </a:rPr>
              <a:t>will not be graded</a:t>
            </a:r>
          </a:p>
        </p:txBody>
      </p:sp>
    </p:spTree>
    <p:extLst>
      <p:ext uri="{BB962C8B-B14F-4D97-AF65-F5344CB8AC3E}">
        <p14:creationId xmlns:p14="http://schemas.microsoft.com/office/powerpoint/2010/main" val="3767783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9683EB-D202-4B4D-B1BD-8BA6965FB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29284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DCD929D-EB95-42B7-ADC6-057A2DDC3ADF}"/>
              </a:ext>
            </a:extLst>
          </p:cNvPr>
          <p:cNvPicPr>
            <a:picLocks noChangeAspect="1"/>
          </p:cNvPicPr>
          <p:nvPr/>
        </p:nvPicPr>
        <p:blipFill rotWithShape="1">
          <a:blip r:embed="rId2">
            <a:alphaModFix amt="35000"/>
          </a:blip>
          <a:srcRect l="6131" r="1244"/>
          <a:stretch/>
        </p:blipFill>
        <p:spPr>
          <a:xfrm>
            <a:off x="20" y="10"/>
            <a:ext cx="11292820" cy="6857990"/>
          </a:xfrm>
          <a:prstGeom prst="rect">
            <a:avLst/>
          </a:prstGeom>
        </p:spPr>
      </p:pic>
      <p:sp>
        <p:nvSpPr>
          <p:cNvPr id="2" name="Title 1">
            <a:extLst>
              <a:ext uri="{FF2B5EF4-FFF2-40B4-BE49-F238E27FC236}">
                <a16:creationId xmlns:a16="http://schemas.microsoft.com/office/drawing/2014/main" id="{F0DAE643-66C1-454C-D827-63403C179E1F}"/>
              </a:ext>
            </a:extLst>
          </p:cNvPr>
          <p:cNvSpPr>
            <a:spLocks noGrp="1"/>
          </p:cNvSpPr>
          <p:nvPr>
            <p:ph type="title"/>
          </p:nvPr>
        </p:nvSpPr>
        <p:spPr>
          <a:xfrm>
            <a:off x="1261872" y="365760"/>
            <a:ext cx="9692640" cy="1325562"/>
          </a:xfrm>
        </p:spPr>
        <p:txBody>
          <a:bodyPr>
            <a:normAutofit/>
          </a:bodyPr>
          <a:lstStyle/>
          <a:p>
            <a:r>
              <a:rPr lang="en-ZA" dirty="0">
                <a:solidFill>
                  <a:schemeClr val="bg1"/>
                </a:solidFill>
              </a:rPr>
              <a:t>In conclusion</a:t>
            </a:r>
          </a:p>
        </p:txBody>
      </p:sp>
      <p:sp>
        <p:nvSpPr>
          <p:cNvPr id="3" name="Content Placeholder 2">
            <a:extLst>
              <a:ext uri="{FF2B5EF4-FFF2-40B4-BE49-F238E27FC236}">
                <a16:creationId xmlns:a16="http://schemas.microsoft.com/office/drawing/2014/main" id="{6E019D0E-9331-D9BE-7790-F1346FC1C987}"/>
              </a:ext>
            </a:extLst>
          </p:cNvPr>
          <p:cNvSpPr>
            <a:spLocks noGrp="1"/>
          </p:cNvSpPr>
          <p:nvPr>
            <p:ph idx="1"/>
          </p:nvPr>
        </p:nvSpPr>
        <p:spPr>
          <a:xfrm>
            <a:off x="1261872" y="2005739"/>
            <a:ext cx="8595360" cy="4174398"/>
          </a:xfrm>
        </p:spPr>
        <p:txBody>
          <a:bodyPr>
            <a:normAutofit/>
          </a:bodyPr>
          <a:lstStyle/>
          <a:p>
            <a:r>
              <a:rPr lang="en-GB" sz="2800" dirty="0">
                <a:solidFill>
                  <a:schemeClr val="bg1"/>
                </a:solidFill>
              </a:rPr>
              <a:t>Limit subjectivity as much as possible</a:t>
            </a:r>
          </a:p>
          <a:p>
            <a:r>
              <a:rPr lang="en-GB" sz="2800" dirty="0">
                <a:solidFill>
                  <a:schemeClr val="bg1"/>
                </a:solidFill>
              </a:rPr>
              <a:t>Avoid similar factors</a:t>
            </a:r>
          </a:p>
          <a:p>
            <a:pPr lvl="1"/>
            <a:r>
              <a:rPr lang="en-GB" sz="2600" dirty="0">
                <a:solidFill>
                  <a:schemeClr val="bg1"/>
                </a:solidFill>
              </a:rPr>
              <a:t>Pin count vs part size vs part weight</a:t>
            </a:r>
          </a:p>
          <a:p>
            <a:r>
              <a:rPr lang="en-GB" sz="2800" dirty="0">
                <a:solidFill>
                  <a:schemeClr val="bg1"/>
                </a:solidFill>
              </a:rPr>
              <a:t>Simply placing the focus on the analyst’s experience is bad!</a:t>
            </a:r>
          </a:p>
          <a:p>
            <a:r>
              <a:rPr lang="en-GB" sz="2800" dirty="0">
                <a:solidFill>
                  <a:schemeClr val="bg1"/>
                </a:solidFill>
              </a:rPr>
              <a:t>Cost is not everything</a:t>
            </a:r>
          </a:p>
          <a:p>
            <a:r>
              <a:rPr lang="en-GB" sz="2800" dirty="0">
                <a:solidFill>
                  <a:schemeClr val="bg1"/>
                </a:solidFill>
              </a:rPr>
              <a:t>Considering only cost is </a:t>
            </a:r>
            <a:r>
              <a:rPr lang="en-GB" sz="2800" b="1" dirty="0">
                <a:solidFill>
                  <a:schemeClr val="bg1"/>
                </a:solidFill>
              </a:rPr>
              <a:t>INCOMPLETE</a:t>
            </a:r>
          </a:p>
          <a:p>
            <a:endParaRPr lang="en-ZA" dirty="0">
              <a:solidFill>
                <a:schemeClr val="bg1"/>
              </a:solidFill>
            </a:endParaRPr>
          </a:p>
        </p:txBody>
      </p:sp>
    </p:spTree>
    <p:extLst>
      <p:ext uri="{BB962C8B-B14F-4D97-AF65-F5344CB8AC3E}">
        <p14:creationId xmlns:p14="http://schemas.microsoft.com/office/powerpoint/2010/main" val="1345193845"/>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1349</TotalTime>
  <Words>1666</Words>
  <Application>Microsoft Office PowerPoint</Application>
  <PresentationFormat>Widescreen</PresentationFormat>
  <Paragraphs>286</Paragraphs>
  <Slides>28</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Century Schoolbook</vt:lpstr>
      <vt:lpstr>Wingdings 2</vt:lpstr>
      <vt:lpstr>View</vt:lpstr>
      <vt:lpstr>Alternative Analysis</vt:lpstr>
      <vt:lpstr>Why evaluate alternatives</vt:lpstr>
      <vt:lpstr>Lesson overview</vt:lpstr>
      <vt:lpstr>Systems Engineering  Body-of-Knowledge (SEBOK) </vt:lpstr>
      <vt:lpstr>MOEs and MOPs</vt:lpstr>
      <vt:lpstr>Technical analysis</vt:lpstr>
      <vt:lpstr>Financial aspects</vt:lpstr>
      <vt:lpstr>Risks</vt:lpstr>
      <vt:lpstr>Apples vs Oranges</vt:lpstr>
      <vt:lpstr>Commonly used Utility Functions</vt:lpstr>
      <vt:lpstr>Criteria Selection</vt:lpstr>
      <vt:lpstr>Multi-criteria Decision Matrix (MCDM)</vt:lpstr>
      <vt:lpstr>Example time</vt:lpstr>
      <vt:lpstr>Current measurement</vt:lpstr>
      <vt:lpstr>Current measurement</vt:lpstr>
      <vt:lpstr>Step 1 – Decide on Utility functions</vt:lpstr>
      <vt:lpstr>Step 2 – Build MCDM for each Alt. Current Transformer ex.</vt:lpstr>
      <vt:lpstr>Step 2 – Build MCDM for each Alt. Current Transformer ex.</vt:lpstr>
      <vt:lpstr>Step 2 – Build MCDM for each Alt. Current Transformer ex.</vt:lpstr>
      <vt:lpstr>Step 3 – Compare Scores </vt:lpstr>
      <vt:lpstr>Selecting the sensor</vt:lpstr>
      <vt:lpstr>Selecting the sensor</vt:lpstr>
      <vt:lpstr>Alternatives</vt:lpstr>
      <vt:lpstr>Algorithm Development</vt:lpstr>
      <vt:lpstr>Embedded System Development</vt:lpstr>
      <vt:lpstr>Software System Development</vt:lpstr>
      <vt:lpstr>Remember</vt:lpstr>
      <vt:lpstr>In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Henri Marais</dc:creator>
  <cp:lastModifiedBy>Henri Marais</cp:lastModifiedBy>
  <cp:revision>36</cp:revision>
  <dcterms:created xsi:type="dcterms:W3CDTF">2018-08-26T18:08:22Z</dcterms:created>
  <dcterms:modified xsi:type="dcterms:W3CDTF">2025-11-12T15:23:58Z</dcterms:modified>
</cp:coreProperties>
</file>